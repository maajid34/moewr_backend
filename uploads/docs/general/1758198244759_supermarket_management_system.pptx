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4"/>
  </p:notesMasterIdLst>
  <p:handoutMasterIdLst>
    <p:handoutMasterId r:id="rId35"/>
  </p:handoutMasterIdLst>
  <p:sldIdLst>
    <p:sldId id="256" r:id="rId5"/>
    <p:sldId id="257" r:id="rId6"/>
    <p:sldId id="260" r:id="rId7"/>
    <p:sldId id="258" r:id="rId8"/>
    <p:sldId id="261" r:id="rId9"/>
    <p:sldId id="262" r:id="rId10"/>
    <p:sldId id="283" r:id="rId11"/>
    <p:sldId id="264" r:id="rId12"/>
    <p:sldId id="266" r:id="rId13"/>
    <p:sldId id="284" r:id="rId14"/>
    <p:sldId id="291" r:id="rId15"/>
    <p:sldId id="267" r:id="rId16"/>
    <p:sldId id="286" r:id="rId17"/>
    <p:sldId id="269" r:id="rId18"/>
    <p:sldId id="292" r:id="rId19"/>
    <p:sldId id="287" r:id="rId20"/>
    <p:sldId id="288" r:id="rId21"/>
    <p:sldId id="289" r:id="rId22"/>
    <p:sldId id="293" r:id="rId23"/>
    <p:sldId id="290" r:id="rId24"/>
    <p:sldId id="295" r:id="rId25"/>
    <p:sldId id="296" r:id="rId26"/>
    <p:sldId id="294" r:id="rId27"/>
    <p:sldId id="298" r:id="rId28"/>
    <p:sldId id="297" r:id="rId29"/>
    <p:sldId id="300" r:id="rId30"/>
    <p:sldId id="301" r:id="rId31"/>
    <p:sldId id="299" r:id="rId32"/>
    <p:sldId id="268"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7415F"/>
    <a:srgbClr val="003A5E"/>
    <a:srgbClr val="003352"/>
    <a:srgbClr val="103350"/>
    <a:srgbClr val="0C4360"/>
    <a:srgbClr val="1B6872"/>
    <a:srgbClr val="63B7C6"/>
    <a:srgbClr val="002136"/>
    <a:srgbClr val="0C75AC"/>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p:scale>
          <a:sx n="62" d="100"/>
          <a:sy n="62" d="100"/>
        </p:scale>
        <p:origin x="828" y="412"/>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handoutMaster" Target="handoutMasters/handoutMaster1.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US" smtClean="0"/>
              <a:t>9/7/2025</a:t>
            </a:fld>
            <a:endParaRPr lang="en-US" dirty="0"/>
          </a:p>
        </p:txBody>
      </p:sp>
      <p:sp>
        <p:nvSpPr>
          <p:cNvPr id="4" name="Footer Placeholder 3">
            <a:extLst>
              <a:ext uri="{FF2B5EF4-FFF2-40B4-BE49-F238E27FC236}">
                <a16:creationId xmlns:a16="http://schemas.microsoft.com/office/drawing/2014/main"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US" smtClean="0"/>
              <a:t>‹#›</a:t>
            </a:fld>
            <a:endParaRPr lang="en-US" dirty="0"/>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US" noProof="0" smtClean="0"/>
              <a:t>9/7/2025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US" noProof="0" smtClean="0"/>
              <a:t>‹#›</a:t>
            </a:fld>
            <a:endParaRPr lang="en-US" noProof="0" dirty="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a:extLst>
              <a:ext uri="{FF2B5EF4-FFF2-40B4-BE49-F238E27FC236}">
                <a16:creationId xmlns:a16="http://schemas.microsoft.com/office/drawing/2014/main" id="{4CA15AFD-4983-47DD-9ED0-D3B27E5A096F}"/>
              </a:ext>
            </a:extLst>
          </p:cNvPr>
          <p:cNvGrpSpPr/>
          <p:nvPr userDrawn="1"/>
        </p:nvGrpSpPr>
        <p:grpSpPr>
          <a:xfrm>
            <a:off x="-1604709" y="-3756"/>
            <a:ext cx="13796710" cy="6861756"/>
            <a:chOff x="-1604709" y="-3756"/>
            <a:chExt cx="13796710" cy="6861756"/>
          </a:xfrm>
        </p:grpSpPr>
        <p:grpSp>
          <p:nvGrpSpPr>
            <p:cNvPr id="8" name="Group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a:extLst>
              <a:ext uri="{FF2B5EF4-FFF2-40B4-BE49-F238E27FC236}">
                <a16:creationId xmlns:a16="http://schemas.microsoft.com/office/drawing/2014/main"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a:t>Click to edit Master subtitle style</a:t>
            </a:r>
          </a:p>
        </p:txBody>
      </p:sp>
    </p:spTree>
    <p:extLst>
      <p:ext uri="{BB962C8B-B14F-4D97-AF65-F5344CB8AC3E}">
        <p14:creationId xmlns:p14="http://schemas.microsoft.com/office/powerpoint/2010/main" val="43695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a:extLst>
              <a:ext uri="{FF2B5EF4-FFF2-40B4-BE49-F238E27FC236}">
                <a16:creationId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a:extLst>
              <a:ext uri="{FF2B5EF4-FFF2-40B4-BE49-F238E27FC236}">
                <a16:creationId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a:extLst>
              <a:ext uri="{FF2B5EF4-FFF2-40B4-BE49-F238E27FC236}">
                <a16:creationId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a:extLst>
              <a:ext uri="{FF2B5EF4-FFF2-40B4-BE49-F238E27FC236}">
                <a16:creationId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22" name="Slide Number Placeholder 4">
            <a:extLst>
              <a:ext uri="{FF2B5EF4-FFF2-40B4-BE49-F238E27FC236}">
                <a16:creationId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3" name="Title 1">
            <a:extLst>
              <a:ext uri="{FF2B5EF4-FFF2-40B4-BE49-F238E27FC236}">
                <a16:creationId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extLst>
      <p:ext uri="{BB962C8B-B14F-4D97-AF65-F5344CB8AC3E}">
        <p14:creationId xmlns:p14="http://schemas.microsoft.com/office/powerpoint/2010/main" val="16751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6" name="Group 25">
            <a:extLst>
              <a:ext uri="{FF2B5EF4-FFF2-40B4-BE49-F238E27FC236}">
                <a16:creationId xmlns:a16="http://schemas.microsoft.com/office/drawing/2014/main" id="{E9318B2B-E019-4078-9EF0-C9D6281AE31B}"/>
              </a:ext>
            </a:extLst>
          </p:cNvPr>
          <p:cNvGrpSpPr/>
          <p:nvPr userDrawn="1"/>
        </p:nvGrpSpPr>
        <p:grpSpPr>
          <a:xfrm>
            <a:off x="9776075" y="2057401"/>
            <a:ext cx="4413559" cy="3934444"/>
            <a:chOff x="9222437" y="1088097"/>
            <a:chExt cx="5433318" cy="4843502"/>
          </a:xfrm>
        </p:grpSpPr>
        <p:sp>
          <p:nvSpPr>
            <p:cNvPr id="27" name="Freeform: Shape 26">
              <a:extLst>
                <a:ext uri="{FF2B5EF4-FFF2-40B4-BE49-F238E27FC236}">
                  <a16:creationId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Shape 27">
              <a:extLst>
                <a:ext uri="{FF2B5EF4-FFF2-40B4-BE49-F238E27FC236}">
                  <a16:creationId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29" name="Freeform: Shape 28">
            <a:extLst>
              <a:ext uri="{FF2B5EF4-FFF2-40B4-BE49-F238E27FC236}">
                <a16:creationId xmlns:a16="http://schemas.microsoft.com/office/drawing/2014/main"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31" name="Group 30">
            <a:extLst>
              <a:ext uri="{FF2B5EF4-FFF2-40B4-BE49-F238E27FC236}">
                <a16:creationId xmlns:a16="http://schemas.microsoft.com/office/drawing/2014/main" id="{EAB002AA-4848-49C8-A834-036F860C79A3}"/>
              </a:ext>
            </a:extLst>
          </p:cNvPr>
          <p:cNvGrpSpPr/>
          <p:nvPr userDrawn="1"/>
        </p:nvGrpSpPr>
        <p:grpSpPr>
          <a:xfrm rot="16200000" flipH="1">
            <a:off x="9913705" y="6257994"/>
            <a:ext cx="1052473" cy="1209445"/>
            <a:chOff x="10800165" y="7142066"/>
            <a:chExt cx="2775293" cy="3189215"/>
          </a:xfrm>
        </p:grpSpPr>
        <p:sp>
          <p:nvSpPr>
            <p:cNvPr id="32" name="Freeform: Shape 31">
              <a:extLst>
                <a:ext uri="{FF2B5EF4-FFF2-40B4-BE49-F238E27FC236}">
                  <a16:creationId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a:extLst>
                <a:ext uri="{FF2B5EF4-FFF2-40B4-BE49-F238E27FC236}">
                  <a16:creationId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35" name="Slide Number Placeholder 4">
            <a:extLst>
              <a:ext uri="{FF2B5EF4-FFF2-40B4-BE49-F238E27FC236}">
                <a16:creationId xmlns:a16="http://schemas.microsoft.com/office/drawing/2014/main" id="{6F73F836-940E-4B65-A29C-D0869263C935}"/>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3511478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a:extLst>
              <a:ext uri="{FF2B5EF4-FFF2-40B4-BE49-F238E27FC236}">
                <a16:creationId xmlns:a16="http://schemas.microsoft.com/office/drawing/2014/main"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a:extLst>
              <a:ext uri="{FF2B5EF4-FFF2-40B4-BE49-F238E27FC236}">
                <a16:creationId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175316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a:extLst>
              <a:ext uri="{FF2B5EF4-FFF2-40B4-BE49-F238E27FC236}">
                <a16:creationId xmlns:a16="http://schemas.microsoft.com/office/drawing/2014/main" id="{03618670-D1E4-466C-BDB5-FC890AC31457}"/>
              </a:ext>
            </a:extLst>
          </p:cNvPr>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27457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07370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7" name="Text Placeholder 6">
            <a:extLst>
              <a:ext uri="{FF2B5EF4-FFF2-40B4-BE49-F238E27FC236}">
                <a16:creationId xmlns:a16="http://schemas.microsoft.com/office/drawing/2014/main" id="{7E0C167E-2626-40DB-AACF-D02543E29BB3}"/>
              </a:ext>
            </a:extLst>
          </p:cNvPr>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a:t>Click to edit Master text styles</a:t>
            </a:r>
          </a:p>
        </p:txBody>
      </p:sp>
    </p:spTree>
    <p:extLst>
      <p:ext uri="{BB962C8B-B14F-4D97-AF65-F5344CB8AC3E}">
        <p14:creationId xmlns:p14="http://schemas.microsoft.com/office/powerpoint/2010/main" val="290474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63670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5" name="Text Placeholder 2">
            <a:extLst>
              <a:ext uri="{FF2B5EF4-FFF2-40B4-BE49-F238E27FC236}">
                <a16:creationId xmlns:a16="http://schemas.microsoft.com/office/drawing/2014/main" id="{7FA80A70-18DE-4DB9-9982-BA75BE54CF93}"/>
              </a:ext>
            </a:extLst>
          </p:cNvPr>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6" name="Text Placeholder 4">
            <a:extLst>
              <a:ext uri="{FF2B5EF4-FFF2-40B4-BE49-F238E27FC236}">
                <a16:creationId xmlns:a16="http://schemas.microsoft.com/office/drawing/2014/main" id="{2801C0EF-C078-44B0-AD01-4850E9A65EE0}"/>
              </a:ext>
            </a:extLst>
          </p:cNvPr>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7" name="Content Placeholder 3">
            <a:extLst>
              <a:ext uri="{FF2B5EF4-FFF2-40B4-BE49-F238E27FC236}">
                <a16:creationId xmlns:a16="http://schemas.microsoft.com/office/drawing/2014/main" id="{7C9DED91-45F6-4308-A085-1EFACA6468CF}"/>
              </a:ext>
            </a:extLst>
          </p:cNvPr>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8" name="Content Placeholder 5">
            <a:extLst>
              <a:ext uri="{FF2B5EF4-FFF2-40B4-BE49-F238E27FC236}">
                <a16:creationId xmlns:a16="http://schemas.microsoft.com/office/drawing/2014/main" id="{0574B5E7-B666-439B-9278-67BE1EA6EBC5}"/>
              </a:ext>
            </a:extLst>
          </p:cNvPr>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19167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FE796BFF-6E5F-4DE7-B193-F501FC094D63}"/>
              </a:ext>
            </a:extLst>
          </p:cNvPr>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Content Placeholder 3">
            <a:extLst>
              <a:ext uri="{FF2B5EF4-FFF2-40B4-BE49-F238E27FC236}">
                <a16:creationId xmlns:a16="http://schemas.microsoft.com/office/drawing/2014/main" id="{78622754-CA4D-4C27-A37F-B26E7B4C9CA2}"/>
              </a:ext>
            </a:extLst>
          </p:cNvPr>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999597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ategor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a:extLst>
              <a:ext uri="{FF2B5EF4-FFF2-40B4-BE49-F238E27FC236}">
                <a16:creationId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1" name="Picture Placeholder 8">
            <a:extLst>
              <a:ext uri="{FF2B5EF4-FFF2-40B4-BE49-F238E27FC236}">
                <a16:creationId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2" name="Picture Placeholder 8">
            <a:extLst>
              <a:ext uri="{FF2B5EF4-FFF2-40B4-BE49-F238E27FC236}">
                <a16:creationId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3" name="Picture Placeholder 8">
            <a:extLst>
              <a:ext uri="{FF2B5EF4-FFF2-40B4-BE49-F238E27FC236}">
                <a16:creationId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4" name="Picture Placeholder 8">
            <a:extLst>
              <a:ext uri="{FF2B5EF4-FFF2-40B4-BE49-F238E27FC236}">
                <a16:creationId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7" name="Text Placeholder 22">
            <a:extLst>
              <a:ext uri="{FF2B5EF4-FFF2-40B4-BE49-F238E27FC236}">
                <a16:creationId xmlns:a16="http://schemas.microsoft.com/office/drawing/2014/main" id="{05F72315-51A9-431C-B80A-45E4FB1D6BD6}"/>
              </a:ext>
            </a:extLst>
          </p:cNvPr>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8" name="Text Placeholder 22">
            <a:extLst>
              <a:ext uri="{FF2B5EF4-FFF2-40B4-BE49-F238E27FC236}">
                <a16:creationId xmlns:a16="http://schemas.microsoft.com/office/drawing/2014/main" id="{883D1F0C-34F1-46E1-B178-E4AB82B14631}"/>
              </a:ext>
            </a:extLst>
          </p:cNvPr>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9" name="Text Placeholder 22">
            <a:extLst>
              <a:ext uri="{FF2B5EF4-FFF2-40B4-BE49-F238E27FC236}">
                <a16:creationId xmlns:a16="http://schemas.microsoft.com/office/drawing/2014/main" id="{7202A849-DF14-40E7-B38D-1185F72603EC}"/>
              </a:ext>
            </a:extLst>
          </p:cNvPr>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0" name="Text Placeholder 22">
            <a:extLst>
              <a:ext uri="{FF2B5EF4-FFF2-40B4-BE49-F238E27FC236}">
                <a16:creationId xmlns:a16="http://schemas.microsoft.com/office/drawing/2014/main" id="{CCFC1ADF-AC11-4CCD-AC2D-478B6FFEA5EA}"/>
              </a:ext>
            </a:extLst>
          </p:cNvPr>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cxnSp>
        <p:nvCxnSpPr>
          <p:cNvPr id="7" name="Straight Connector 6">
            <a:extLst>
              <a:ext uri="{FF2B5EF4-FFF2-40B4-BE49-F238E27FC236}">
                <a16:creationId xmlns:a16="http://schemas.microsoft.com/office/drawing/2014/main"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76266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 3 Sec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36" name="Text Placeholder 22">
            <a:extLst>
              <a:ext uri="{FF2B5EF4-FFF2-40B4-BE49-F238E27FC236}">
                <a16:creationId xmlns:a16="http://schemas.microsoft.com/office/drawing/2014/main" id="{642D3CE0-C3B4-4F3F-A650-AB452B3AD4BA}"/>
              </a:ext>
            </a:extLst>
          </p:cNvPr>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7" name="Text Placeholder 22">
            <a:extLst>
              <a:ext uri="{FF2B5EF4-FFF2-40B4-BE49-F238E27FC236}">
                <a16:creationId xmlns:a16="http://schemas.microsoft.com/office/drawing/2014/main" id="{DBED2BB0-CDAD-40EE-8B35-C66DF45EE29D}"/>
              </a:ext>
            </a:extLst>
          </p:cNvPr>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Tree>
    <p:extLst>
      <p:ext uri="{BB962C8B-B14F-4D97-AF65-F5344CB8AC3E}">
        <p14:creationId xmlns:p14="http://schemas.microsoft.com/office/powerpoint/2010/main" val="1544745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extLst>
      <p:ext uri="{BB962C8B-B14F-4D97-AF65-F5344CB8AC3E}">
        <p14:creationId xmlns:p14="http://schemas.microsoft.com/office/powerpoint/2010/main" val="2486826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Picture Placeholder 2">
            <a:extLst>
              <a:ext uri="{FF2B5EF4-FFF2-40B4-BE49-F238E27FC236}">
                <a16:creationId xmlns:a16="http://schemas.microsoft.com/office/drawing/2014/main" id="{30B3A574-7940-4E35-857E-5CA35A5910E5}"/>
              </a:ext>
            </a:extLst>
          </p:cNvPr>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extLst>
      <p:ext uri="{BB962C8B-B14F-4D97-AF65-F5344CB8AC3E}">
        <p14:creationId xmlns:p14="http://schemas.microsoft.com/office/powerpoint/2010/main" val="1540650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22" name="Content Placeholder 2">
            <a:extLst>
              <a:ext uri="{FF2B5EF4-FFF2-40B4-BE49-F238E27FC236}">
                <a16:creationId xmlns:a16="http://schemas.microsoft.com/office/drawing/2014/main" id="{A015C605-1D30-48BC-A0D6-3B11AF56CC53}"/>
              </a:ext>
            </a:extLst>
          </p:cNvPr>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212989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a:extLst>
              <a:ext uri="{FF2B5EF4-FFF2-40B4-BE49-F238E27FC236}">
                <a16:creationId xmlns:a16="http://schemas.microsoft.com/office/drawing/2014/main"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a:extLst>
              <a:ext uri="{FF2B5EF4-FFF2-40B4-BE49-F238E27FC236}">
                <a16:creationId xmlns:a16="http://schemas.microsoft.com/office/drawing/2014/main"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a:extLst>
              <a:ext uri="{FF2B5EF4-FFF2-40B4-BE49-F238E27FC236}">
                <a16:creationId xmlns:a16="http://schemas.microsoft.com/office/drawing/2014/main"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a:extLst>
              <a:ext uri="{FF2B5EF4-FFF2-40B4-BE49-F238E27FC236}">
                <a16:creationId xmlns:a16="http://schemas.microsoft.com/office/drawing/2014/main"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id="{4AC87F4E-12B5-1B42-AFD2-4DB39B7645C9}"/>
              </a:ext>
            </a:extLst>
          </p:cNvPr>
          <p:cNvGrpSpPr/>
          <p:nvPr userDrawn="1"/>
        </p:nvGrpSpPr>
        <p:grpSpPr>
          <a:xfrm rot="16200000">
            <a:off x="499388" y="-322655"/>
            <a:ext cx="535531" cy="645309"/>
            <a:chOff x="10945855" y="7317026"/>
            <a:chExt cx="2483924" cy="2993104"/>
          </a:xfrm>
        </p:grpSpPr>
        <p:sp>
          <p:nvSpPr>
            <p:cNvPr id="25" name="Freeform: Shape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a:extLst>
              <a:ext uri="{FF2B5EF4-FFF2-40B4-BE49-F238E27FC236}">
                <a16:creationId xmlns:a16="http://schemas.microsoft.com/office/drawing/2014/main"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a:extLst>
              <a:ext uri="{FF2B5EF4-FFF2-40B4-BE49-F238E27FC236}">
                <a16:creationId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2672304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a:extLst>
              <a:ext uri="{FF2B5EF4-FFF2-40B4-BE49-F238E27FC236}">
                <a16:creationId xmlns:a16="http://schemas.microsoft.com/office/drawing/2014/main" id="{EA7FF9D7-8545-4547-AC77-A0421EEB9B99}"/>
              </a:ext>
            </a:extLst>
          </p:cNvPr>
          <p:cNvGrpSpPr/>
          <p:nvPr userDrawn="1"/>
        </p:nvGrpSpPr>
        <p:grpSpPr>
          <a:xfrm>
            <a:off x="0" y="0"/>
            <a:ext cx="6881966" cy="6858876"/>
            <a:chOff x="-5321" y="1096"/>
            <a:chExt cx="5924073" cy="5904197"/>
          </a:xfrm>
        </p:grpSpPr>
        <p:sp>
          <p:nvSpPr>
            <p:cNvPr id="17" name="Right Triangle 16">
              <a:extLst>
                <a:ext uri="{FF2B5EF4-FFF2-40B4-BE49-F238E27FC236}">
                  <a16:creationId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extLst>
      <p:ext uri="{BB962C8B-B14F-4D97-AF65-F5344CB8AC3E}">
        <p14:creationId xmlns:p14="http://schemas.microsoft.com/office/powerpoint/2010/main" val="2236386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a:extLst>
              <a:ext uri="{FF2B5EF4-FFF2-40B4-BE49-F238E27FC236}">
                <a16:creationId xmlns:a16="http://schemas.microsoft.com/office/drawing/2014/main"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a:extLst>
              <a:ext uri="{FF2B5EF4-FFF2-40B4-BE49-F238E27FC236}">
                <a16:creationId xmlns:a16="http://schemas.microsoft.com/office/drawing/2014/main"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121851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t>‹#›</a:t>
            </a:fld>
            <a:endParaRPr lang="en-US" noProof="0" dirty="0"/>
          </a:p>
        </p:txBody>
      </p:sp>
      <p:sp>
        <p:nvSpPr>
          <p:cNvPr id="5" name="Rectangle 4">
            <a:extLst>
              <a:ext uri="{FF2B5EF4-FFF2-40B4-BE49-F238E27FC236}">
                <a16:creationId xmlns:a16="http://schemas.microsoft.com/office/drawing/2014/main"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9">
            <a:extLst>
              <a:ext uri="{FF2B5EF4-FFF2-40B4-BE49-F238E27FC236}">
                <a16:creationId xmlns:a16="http://schemas.microsoft.com/office/drawing/2014/main"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7">
            <a:extLst>
              <a:ext uri="{FF2B5EF4-FFF2-40B4-BE49-F238E27FC236}">
                <a16:creationId xmlns:a16="http://schemas.microsoft.com/office/drawing/2014/main"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1">
            <a:extLst>
              <a:ext uri="{FF2B5EF4-FFF2-40B4-BE49-F238E27FC236}">
                <a16:creationId xmlns:a16="http://schemas.microsoft.com/office/drawing/2014/main"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7">
            <a:extLst>
              <a:ext uri="{FF2B5EF4-FFF2-40B4-BE49-F238E27FC236}">
                <a16:creationId xmlns:a16="http://schemas.microsoft.com/office/drawing/2014/main"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a:extLst>
              <a:ext uri="{FF2B5EF4-FFF2-40B4-BE49-F238E27FC236}">
                <a16:creationId xmlns:a16="http://schemas.microsoft.com/office/drawing/2014/main"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2" name="Group 11">
            <a:extLst>
              <a:ext uri="{FF2B5EF4-FFF2-40B4-BE49-F238E27FC236}">
                <a16:creationId xmlns:a16="http://schemas.microsoft.com/office/drawing/2014/main" id="{7068FCE4-1B47-3C4B-B091-013120A97D09}"/>
              </a:ext>
            </a:extLst>
          </p:cNvPr>
          <p:cNvGrpSpPr/>
          <p:nvPr userDrawn="1"/>
        </p:nvGrpSpPr>
        <p:grpSpPr>
          <a:xfrm rot="16200000">
            <a:off x="499388" y="-322655"/>
            <a:ext cx="535531" cy="645309"/>
            <a:chOff x="10945855" y="7317026"/>
            <a:chExt cx="2483924" cy="2993104"/>
          </a:xfrm>
        </p:grpSpPr>
        <p:sp>
          <p:nvSpPr>
            <p:cNvPr id="13" name="Freeform: Shape 15">
              <a:extLst>
                <a:ext uri="{FF2B5EF4-FFF2-40B4-BE49-F238E27FC236}">
                  <a16:creationId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6">
              <a:extLst>
                <a:ext uri="{FF2B5EF4-FFF2-40B4-BE49-F238E27FC236}">
                  <a16:creationId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a:extLst>
              <a:ext uri="{FF2B5EF4-FFF2-40B4-BE49-F238E27FC236}">
                <a16:creationId xmlns:a16="http://schemas.microsoft.com/office/drawing/2014/main" id="{BE1E08A0-195D-694F-947B-986A76FBB93E}"/>
              </a:ext>
            </a:extLst>
          </p:cNvPr>
          <p:cNvGrpSpPr/>
          <p:nvPr userDrawn="1"/>
        </p:nvGrpSpPr>
        <p:grpSpPr>
          <a:xfrm>
            <a:off x="-1" y="1357409"/>
            <a:ext cx="12192001" cy="4846320"/>
            <a:chOff x="-1" y="1357409"/>
            <a:chExt cx="12192001" cy="4917518"/>
          </a:xfrm>
        </p:grpSpPr>
        <p:sp>
          <p:nvSpPr>
            <p:cNvPr id="16" name="Rectangle: Single Corner Snipped 18">
              <a:extLst>
                <a:ext uri="{FF2B5EF4-FFF2-40B4-BE49-F238E27FC236}">
                  <a16:creationId xmlns:a16="http://schemas.microsoft.com/office/drawing/2014/main"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7" name="Rectangle: Single Corner Snipped 2">
              <a:extLst>
                <a:ext uri="{FF2B5EF4-FFF2-40B4-BE49-F238E27FC236}">
                  <a16:creationId xmlns:a16="http://schemas.microsoft.com/office/drawing/2014/main"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23">
            <a:extLst>
              <a:ext uri="{FF2B5EF4-FFF2-40B4-BE49-F238E27FC236}">
                <a16:creationId xmlns:a16="http://schemas.microsoft.com/office/drawing/2014/main"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Slide Number Placeholder 4">
            <a:extLst>
              <a:ext uri="{FF2B5EF4-FFF2-40B4-BE49-F238E27FC236}">
                <a16:creationId xmlns:a16="http://schemas.microsoft.com/office/drawing/2014/main" id="{7D9BF857-7910-734D-A217-5E3344220AA2}"/>
              </a:ext>
            </a:extLst>
          </p:cNvPr>
          <p:cNvSpPr txBox="1">
            <a:spLocks/>
          </p:cNvSpPr>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66609333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6" r:id="rId4"/>
    <p:sldLayoutId id="2147483654" r:id="rId5"/>
    <p:sldLayoutId id="2147483661" r:id="rId6"/>
    <p:sldLayoutId id="2147483677" r:id="rId7"/>
    <p:sldLayoutId id="2147483674" r:id="rId8"/>
    <p:sldLayoutId id="2147483665" r:id="rId9"/>
    <p:sldLayoutId id="2147483673" r:id="rId10"/>
    <p:sldLayoutId id="2147483662" r:id="rId11"/>
    <p:sldLayoutId id="2147483663" r:id="rId12"/>
    <p:sldLayoutId id="2147483664" r:id="rId13"/>
    <p:sldLayoutId id="2147483675" r:id="rId14"/>
    <p:sldLayoutId id="2147483676" r:id="rId15"/>
    <p:sldLayoutId id="2147483672" r:id="rId16"/>
    <p:sldLayoutId id="2147483667" r:id="rId17"/>
    <p:sldLayoutId id="2147483668"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tesco.com/" TargetMode="Externa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nbtskenya.or.ke/" TargetMode="Externa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hyperlink" Target="https://www.bigcommerce.com/articles/ecommerce/influencer-marketing/" TargetMode="Externa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hyperlink" Target="https://en.m.wikipedia.org/" TargetMode="Externa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a:xfrm>
            <a:off x="2470542" y="961673"/>
            <a:ext cx="8955412" cy="1441662"/>
          </a:xfrm>
        </p:spPr>
        <p:txBody>
          <a:bodyPr/>
          <a:lstStyle/>
          <a:p>
            <a:r>
              <a:rPr lang="en-US" sz="6000" dirty="0">
                <a:solidFill>
                  <a:schemeClr val="bg1"/>
                </a:solidFill>
              </a:rPr>
              <a:t>ONLINE SUPERMARKET MANAGEMENT SYSTEM</a:t>
            </a:r>
          </a:p>
        </p:txBody>
      </p:sp>
      <p:pic>
        <p:nvPicPr>
          <p:cNvPr id="5" name="Picture 4">
            <a:extLst>
              <a:ext uri="{FF2B5EF4-FFF2-40B4-BE49-F238E27FC236}">
                <a16:creationId xmlns:a16="http://schemas.microsoft.com/office/drawing/2014/main" id="{8FF4896D-D722-4A50-9A2F-15AEC563C404}"/>
              </a:ext>
            </a:extLst>
          </p:cNvPr>
          <p:cNvPicPr>
            <a:picLocks noChangeAspect="1"/>
          </p:cNvPicPr>
          <p:nvPr/>
        </p:nvPicPr>
        <p:blipFill>
          <a:blip r:embed="rId2"/>
          <a:stretch>
            <a:fillRect/>
          </a:stretch>
        </p:blipFill>
        <p:spPr>
          <a:xfrm>
            <a:off x="4185804" y="2309622"/>
            <a:ext cx="3659332" cy="3659332"/>
          </a:xfrm>
          <a:prstGeom prst="rect">
            <a:avLst/>
          </a:prstGeom>
        </p:spPr>
      </p:pic>
      <p:pic>
        <p:nvPicPr>
          <p:cNvPr id="4" name="Picture 3">
            <a:extLst>
              <a:ext uri="{FF2B5EF4-FFF2-40B4-BE49-F238E27FC236}">
                <a16:creationId xmlns:a16="http://schemas.microsoft.com/office/drawing/2014/main" id="{3E3BF321-9D3F-49C7-B0E1-23BC251260B3}"/>
              </a:ext>
            </a:extLst>
          </p:cNvPr>
          <p:cNvPicPr>
            <a:picLocks noChangeAspect="1"/>
          </p:cNvPicPr>
          <p:nvPr/>
        </p:nvPicPr>
        <p:blipFill>
          <a:blip r:embed="rId3"/>
          <a:stretch>
            <a:fillRect/>
          </a:stretch>
        </p:blipFill>
        <p:spPr>
          <a:xfrm>
            <a:off x="2348911" y="2205257"/>
            <a:ext cx="7096425" cy="4055100"/>
          </a:xfrm>
          <a:prstGeom prst="rect">
            <a:avLst/>
          </a:prstGeom>
        </p:spPr>
      </p:pic>
    </p:spTree>
    <p:extLst>
      <p:ext uri="{BB962C8B-B14F-4D97-AF65-F5344CB8AC3E}">
        <p14:creationId xmlns:p14="http://schemas.microsoft.com/office/powerpoint/2010/main" val="3946934594"/>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24BF10-2B55-43AB-9F77-F1A1410384A9}"/>
              </a:ext>
            </a:extLst>
          </p:cNvPr>
          <p:cNvSpPr>
            <a:spLocks noGrp="1"/>
          </p:cNvSpPr>
          <p:nvPr>
            <p:ph type="sldNum" sz="quarter" idx="12"/>
          </p:nvPr>
        </p:nvSpPr>
        <p:spPr/>
        <p:txBody>
          <a:bodyPr/>
          <a:lstStyle/>
          <a:p>
            <a:fld id="{C263D6C4-4840-40CC-AC84-17E24B3B7BDE}" type="slidenum">
              <a:rPr lang="en-US" smtClean="0"/>
              <a:pPr/>
              <a:t>2</a:t>
            </a:fld>
            <a:endParaRPr lang="en-US" dirty="0"/>
          </a:p>
        </p:txBody>
      </p:sp>
      <p:graphicFrame>
        <p:nvGraphicFramePr>
          <p:cNvPr id="3" name="Table 2">
            <a:extLst>
              <a:ext uri="{FF2B5EF4-FFF2-40B4-BE49-F238E27FC236}">
                <a16:creationId xmlns:a16="http://schemas.microsoft.com/office/drawing/2014/main" id="{2633B554-6D8A-4E6B-968D-DE14B2B69B2A}"/>
              </a:ext>
            </a:extLst>
          </p:cNvPr>
          <p:cNvGraphicFramePr>
            <a:graphicFrameLocks noGrp="1"/>
          </p:cNvGraphicFramePr>
          <p:nvPr>
            <p:extLst>
              <p:ext uri="{D42A27DB-BD31-4B8C-83A1-F6EECF244321}">
                <p14:modId xmlns:p14="http://schemas.microsoft.com/office/powerpoint/2010/main" val="2029949746"/>
              </p:ext>
            </p:extLst>
          </p:nvPr>
        </p:nvGraphicFramePr>
        <p:xfrm>
          <a:off x="1383738" y="393050"/>
          <a:ext cx="8844594" cy="6459857"/>
        </p:xfrm>
        <a:graphic>
          <a:graphicData uri="http://schemas.openxmlformats.org/drawingml/2006/table">
            <a:tbl>
              <a:tblPr firstRow="1" firstCol="1" bandRow="1">
                <a:tableStyleId>{327F97BB-C833-4FB7-BDE5-3F7075034690}</a:tableStyleId>
              </a:tblPr>
              <a:tblGrid>
                <a:gridCol w="826287">
                  <a:extLst>
                    <a:ext uri="{9D8B030D-6E8A-4147-A177-3AD203B41FA5}">
                      <a16:colId xmlns:a16="http://schemas.microsoft.com/office/drawing/2014/main" val="4019998811"/>
                    </a:ext>
                  </a:extLst>
                </a:gridCol>
                <a:gridCol w="5857472">
                  <a:extLst>
                    <a:ext uri="{9D8B030D-6E8A-4147-A177-3AD203B41FA5}">
                      <a16:colId xmlns:a16="http://schemas.microsoft.com/office/drawing/2014/main" val="1333199273"/>
                    </a:ext>
                  </a:extLst>
                </a:gridCol>
                <a:gridCol w="2160835">
                  <a:extLst>
                    <a:ext uri="{9D8B030D-6E8A-4147-A177-3AD203B41FA5}">
                      <a16:colId xmlns:a16="http://schemas.microsoft.com/office/drawing/2014/main" val="2171893679"/>
                    </a:ext>
                  </a:extLst>
                </a:gridCol>
              </a:tblGrid>
              <a:tr h="520419">
                <a:tc>
                  <a:txBody>
                    <a:bodyPr/>
                    <a:lstStyle/>
                    <a:p>
                      <a:pPr marL="0" marR="0">
                        <a:lnSpc>
                          <a:spcPct val="150000"/>
                        </a:lnSpc>
                        <a:spcBef>
                          <a:spcPts val="0"/>
                        </a:spcBef>
                        <a:spcAft>
                          <a:spcPts val="0"/>
                        </a:spcAft>
                      </a:pPr>
                      <a:r>
                        <a:rPr lang="en-US" sz="2600">
                          <a:effectLst/>
                          <a:latin typeface="+mj-lt"/>
                        </a:rPr>
                        <a:t>1</a:t>
                      </a:r>
                      <a:endParaRPr lang="en-US" sz="2200">
                        <a:effectLst/>
                        <a:latin typeface="+mj-lt"/>
                        <a:ea typeface="Calibri" panose="020F0502020204030204" pitchFamily="34" charset="0"/>
                        <a:cs typeface="Arial" panose="020B0604020202020204" pitchFamily="34" charset="0"/>
                      </a:endParaRPr>
                    </a:p>
                  </a:txBody>
                  <a:tcPr marL="64091" marR="64091" marT="0" marB="0">
                    <a:lnL w="6350" cap="flat" cmpd="sng" algn="ctr">
                      <a:noFill/>
                      <a:prstDash val="solid"/>
                      <a:miter lim="800000"/>
                    </a:lnL>
                    <a:lnR w="12700" cap="flat" cmpd="sng" algn="ctr">
                      <a:noFill/>
                      <a:prstDash val="solid"/>
                      <a:miter lim="800000"/>
                    </a:lnR>
                    <a:lnT w="6350" cap="flat" cmpd="sng" algn="ctr">
                      <a:noFill/>
                      <a:prstDash val="solid"/>
                      <a:miter lim="800000"/>
                    </a:lnT>
                    <a:lnB w="19050" cap="flat" cmpd="sng" algn="ctr">
                      <a:noFill/>
                      <a:prstDash val="solid"/>
                      <a:miter lim="800000"/>
                    </a:lnB>
                    <a:lnTlToBr w="12700" cmpd="sng">
                      <a:noFill/>
                      <a:prstDash val="solid"/>
                    </a:lnTlToBr>
                    <a:lnBlToTr w="12700" cmpd="sng">
                      <a:noFill/>
                      <a:prstDash val="solid"/>
                    </a:lnBlToTr>
                    <a:noFill/>
                  </a:tcPr>
                </a:tc>
                <a:tc>
                  <a:txBody>
                    <a:bodyPr/>
                    <a:lstStyle/>
                    <a:p>
                      <a:pPr marL="0" marR="0">
                        <a:lnSpc>
                          <a:spcPct val="150000"/>
                        </a:lnSpc>
                        <a:spcBef>
                          <a:spcPts val="0"/>
                        </a:spcBef>
                        <a:spcAft>
                          <a:spcPts val="0"/>
                        </a:spcAft>
                      </a:pPr>
                      <a:r>
                        <a:rPr lang="en-US" sz="2200" dirty="0">
                          <a:effectLst/>
                          <a:latin typeface="+mj-lt"/>
                          <a:ea typeface="Calibri" panose="020F0502020204030204" pitchFamily="34" charset="0"/>
                          <a:cs typeface="Arial" panose="020B0604020202020204" pitchFamily="34" charset="0"/>
                        </a:rPr>
                        <a:t>Abdimajid haji </a:t>
                      </a:r>
                      <a:r>
                        <a:rPr lang="en-US" sz="2200" dirty="0" err="1">
                          <a:effectLst/>
                          <a:latin typeface="+mj-lt"/>
                          <a:ea typeface="Calibri" panose="020F0502020204030204" pitchFamily="34" charset="0"/>
                          <a:cs typeface="Arial" panose="020B0604020202020204" pitchFamily="34" charset="0"/>
                        </a:rPr>
                        <a:t>adan</a:t>
                      </a:r>
                      <a:r>
                        <a:rPr lang="en-US" sz="2200" dirty="0">
                          <a:effectLst/>
                          <a:latin typeface="+mj-lt"/>
                          <a:ea typeface="Calibri" panose="020F0502020204030204" pitchFamily="34" charset="0"/>
                          <a:cs typeface="Arial" panose="020B0604020202020204" pitchFamily="34" charset="0"/>
                        </a:rPr>
                        <a:t> nor </a:t>
                      </a:r>
                    </a:p>
                  </a:txBody>
                  <a:tcPr marL="64091" marR="64091" marT="0" marB="0">
                    <a:lnL w="12700" cap="flat" cmpd="sng" algn="ctr">
                      <a:noFill/>
                      <a:prstDash val="solid"/>
                      <a:miter lim="800000"/>
                    </a:lnL>
                    <a:lnR>
                      <a:noFill/>
                    </a:lnR>
                    <a:lnT w="6350" cap="flat" cmpd="sng" algn="ctr">
                      <a:noFill/>
                      <a:prstDash val="solid"/>
                      <a:miter lim="800000"/>
                    </a:lnT>
                    <a:lnB w="19050" cap="flat" cmpd="sng" algn="ctr">
                      <a:noFill/>
                      <a:prstDash val="solid"/>
                      <a:miter lim="800000"/>
                    </a:lnB>
                    <a:lnTlToBr w="12700" cmpd="sng">
                      <a:noFill/>
                      <a:prstDash val="solid"/>
                    </a:lnTlToBr>
                    <a:lnBlToTr w="12700" cmpd="sng">
                      <a:noFill/>
                      <a:prstDash val="solid"/>
                    </a:lnBlToTr>
                    <a:noFill/>
                  </a:tcPr>
                </a:tc>
                <a:tc>
                  <a:txBody>
                    <a:bodyPr/>
                    <a:lstStyle/>
                    <a:p>
                      <a:pPr marL="0" marR="0">
                        <a:lnSpc>
                          <a:spcPct val="150000"/>
                        </a:lnSpc>
                        <a:spcBef>
                          <a:spcPts val="0"/>
                        </a:spcBef>
                        <a:spcAft>
                          <a:spcPts val="1000"/>
                        </a:spcAft>
                      </a:pPr>
                      <a:r>
                        <a:rPr lang="en-US" sz="2200" dirty="0">
                          <a:effectLst/>
                          <a:latin typeface="+mj-lt"/>
                          <a:ea typeface="Calibri" panose="020F0502020204030204" pitchFamily="34" charset="0"/>
                          <a:cs typeface="Arial" panose="020B0604020202020204" pitchFamily="34" charset="0"/>
                        </a:rPr>
                        <a:t>13463</a:t>
                      </a:r>
                    </a:p>
                  </a:txBody>
                  <a:tcPr marL="64091" marR="64091" marT="0" marB="0">
                    <a:lnL>
                      <a:noFill/>
                    </a:lnL>
                    <a:lnR w="6350" cap="flat" cmpd="sng" algn="ctr">
                      <a:noFill/>
                      <a:prstDash val="solid"/>
                      <a:miter lim="800000"/>
                    </a:lnR>
                    <a:lnT w="6350" cap="flat" cmpd="sng" algn="ctr">
                      <a:noFill/>
                      <a:prstDash val="solid"/>
                      <a:miter lim="800000"/>
                    </a:lnT>
                    <a:lnB w="190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08062483"/>
                  </a:ext>
                </a:extLst>
              </a:tr>
              <a:tr h="515387">
                <a:tc>
                  <a:txBody>
                    <a:bodyPr/>
                    <a:lstStyle/>
                    <a:p>
                      <a:pPr marL="0" marR="0">
                        <a:lnSpc>
                          <a:spcPct val="150000"/>
                        </a:lnSpc>
                        <a:spcBef>
                          <a:spcPts val="0"/>
                        </a:spcBef>
                        <a:spcAft>
                          <a:spcPts val="0"/>
                        </a:spcAft>
                      </a:pPr>
                      <a:r>
                        <a:rPr lang="en-US" sz="2600" dirty="0">
                          <a:effectLst/>
                          <a:latin typeface="+mj-lt"/>
                        </a:rPr>
                        <a:t>2</a:t>
                      </a:r>
                      <a:endParaRPr lang="en-US" sz="2200" dirty="0">
                        <a:effectLst/>
                        <a:latin typeface="+mj-lt"/>
                        <a:ea typeface="Calibri" panose="020F0502020204030204" pitchFamily="34" charset="0"/>
                        <a:cs typeface="Arial" panose="020B0604020202020204" pitchFamily="34" charset="0"/>
                      </a:endParaRPr>
                    </a:p>
                  </a:txBody>
                  <a:tcPr marL="64091" marR="64091" marT="0" marB="0">
                    <a:lnL w="6350" cap="flat" cmpd="sng" algn="ctr">
                      <a:noFill/>
                      <a:prstDash val="solid"/>
                      <a:miter lim="800000"/>
                    </a:lnL>
                    <a:lnR w="12700" cap="flat" cmpd="sng" algn="ctr">
                      <a:noFill/>
                      <a:prstDash val="solid"/>
                      <a:miter lim="800000"/>
                    </a:lnR>
                    <a:lnT w="19050" cap="flat" cmpd="sng" algn="ctr">
                      <a:noFill/>
                      <a:prstDash val="solid"/>
                      <a:miter lim="800000"/>
                    </a:lnT>
                    <a:lnB>
                      <a:noFill/>
                    </a:lnB>
                    <a:lnTlToBr w="12700" cmpd="sng">
                      <a:noFill/>
                      <a:prstDash val="solid"/>
                    </a:lnTlToBr>
                    <a:lnBlToTr w="12700" cmpd="sng">
                      <a:noFill/>
                      <a:prstDash val="solid"/>
                    </a:lnBlToTr>
                    <a:noFill/>
                  </a:tcPr>
                </a:tc>
                <a:tc>
                  <a:txBody>
                    <a:bodyPr/>
                    <a:lstStyle/>
                    <a:p>
                      <a:pPr marL="0" marR="0">
                        <a:lnSpc>
                          <a:spcPct val="150000"/>
                        </a:lnSpc>
                        <a:spcBef>
                          <a:spcPts val="0"/>
                        </a:spcBef>
                        <a:spcAft>
                          <a:spcPts val="0"/>
                        </a:spcAft>
                      </a:pPr>
                      <a:r>
                        <a:rPr lang="en-US" sz="2200" dirty="0">
                          <a:effectLst/>
                          <a:latin typeface="+mj-lt"/>
                          <a:ea typeface="Calibri" panose="020F0502020204030204" pitchFamily="34" charset="0"/>
                          <a:cs typeface="Arial" panose="020B0604020202020204" pitchFamily="34" charset="0"/>
                        </a:rPr>
                        <a:t>Ilhaan Aden Mohamed</a:t>
                      </a:r>
                    </a:p>
                  </a:txBody>
                  <a:tcPr marL="64091" marR="64091" marT="0" marB="0">
                    <a:lnL w="12700" cap="flat" cmpd="sng" algn="ctr">
                      <a:noFill/>
                      <a:prstDash val="solid"/>
                      <a:miter lim="800000"/>
                    </a:lnL>
                    <a:lnR>
                      <a:noFill/>
                    </a:lnR>
                    <a:lnT w="19050" cap="flat" cmpd="sng" algn="ctr">
                      <a:noFill/>
                      <a:prstDash val="solid"/>
                      <a:miter lim="800000"/>
                    </a:lnT>
                    <a:lnB>
                      <a:noFill/>
                    </a:lnB>
                    <a:lnTlToBr w="12700" cmpd="sng">
                      <a:noFill/>
                      <a:prstDash val="solid"/>
                    </a:lnTlToBr>
                    <a:lnBlToTr w="12700" cmpd="sng">
                      <a:noFill/>
                      <a:prstDash val="solid"/>
                    </a:lnBlToTr>
                    <a:noFill/>
                  </a:tcPr>
                </a:tc>
                <a:tc>
                  <a:txBody>
                    <a:bodyPr/>
                    <a:lstStyle/>
                    <a:p>
                      <a:pPr marL="0" marR="0">
                        <a:lnSpc>
                          <a:spcPct val="150000"/>
                        </a:lnSpc>
                        <a:spcBef>
                          <a:spcPts val="0"/>
                        </a:spcBef>
                        <a:spcAft>
                          <a:spcPts val="1000"/>
                        </a:spcAft>
                      </a:pPr>
                      <a:r>
                        <a:rPr lang="en-US" sz="2200" dirty="0">
                          <a:effectLst/>
                          <a:latin typeface="+mj-lt"/>
                          <a:ea typeface="Calibri" panose="020F0502020204030204" pitchFamily="34" charset="0"/>
                          <a:cs typeface="Arial" panose="020B0604020202020204" pitchFamily="34" charset="0"/>
                        </a:rPr>
                        <a:t>15643</a:t>
                      </a:r>
                    </a:p>
                  </a:txBody>
                  <a:tcPr marL="64091" marR="64091" marT="0" marB="0">
                    <a:lnL>
                      <a:noFill/>
                    </a:lnL>
                    <a:lnR w="6350" cap="flat" cmpd="sng" algn="ctr">
                      <a:noFill/>
                      <a:prstDash val="solid"/>
                      <a:miter lim="800000"/>
                    </a:lnR>
                    <a:lnT w="19050" cap="flat" cmpd="sng" algn="ctr">
                      <a:noFill/>
                      <a:prstDash val="solid"/>
                      <a:miter lim="800000"/>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090704381"/>
                  </a:ext>
                </a:extLst>
              </a:tr>
              <a:tr h="515387">
                <a:tc>
                  <a:txBody>
                    <a:bodyPr/>
                    <a:lstStyle/>
                    <a:p>
                      <a:pPr marL="0" marR="0">
                        <a:lnSpc>
                          <a:spcPct val="150000"/>
                        </a:lnSpc>
                        <a:spcBef>
                          <a:spcPts val="0"/>
                        </a:spcBef>
                        <a:spcAft>
                          <a:spcPts val="0"/>
                        </a:spcAft>
                      </a:pPr>
                      <a:r>
                        <a:rPr lang="en-US" sz="2600" dirty="0">
                          <a:effectLst/>
                          <a:latin typeface="+mj-lt"/>
                        </a:rPr>
                        <a:t>3</a:t>
                      </a:r>
                      <a:endParaRPr lang="en-US" sz="2200" dirty="0">
                        <a:effectLst/>
                        <a:latin typeface="+mj-lt"/>
                        <a:ea typeface="Calibri" panose="020F0502020204030204" pitchFamily="34" charset="0"/>
                        <a:cs typeface="Arial" panose="020B0604020202020204" pitchFamily="34" charset="0"/>
                      </a:endParaRPr>
                    </a:p>
                  </a:txBody>
                  <a:tcPr marL="64091" marR="64091" marT="0" marB="0">
                    <a:lnL w="6350" cap="flat" cmpd="sng" algn="ctr">
                      <a:noFill/>
                      <a:prstDash val="solid"/>
                      <a:miter lim="800000"/>
                    </a:lnL>
                    <a:lnR w="12700" cap="flat" cmpd="sng" algn="ctr">
                      <a:noFill/>
                      <a:prstDash val="solid"/>
                      <a:miter lim="800000"/>
                    </a:lnR>
                    <a:lnT>
                      <a:noFill/>
                    </a:lnT>
                    <a:lnB>
                      <a:noFill/>
                    </a:lnB>
                    <a:lnTlToBr w="12700" cmpd="sng">
                      <a:noFill/>
                      <a:prstDash val="solid"/>
                    </a:lnTlToBr>
                    <a:lnBlToTr w="12700" cmpd="sng">
                      <a:noFill/>
                      <a:prstDash val="solid"/>
                    </a:lnBlToTr>
                    <a:noFill/>
                  </a:tcPr>
                </a:tc>
                <a:tc>
                  <a:txBody>
                    <a:bodyPr/>
                    <a:lstStyle/>
                    <a:p>
                      <a:pPr marL="0" marR="0">
                        <a:lnSpc>
                          <a:spcPct val="150000"/>
                        </a:lnSpc>
                        <a:spcBef>
                          <a:spcPts val="0"/>
                        </a:spcBef>
                        <a:spcAft>
                          <a:spcPts val="0"/>
                        </a:spcAft>
                      </a:pPr>
                      <a:r>
                        <a:rPr lang="en-US" sz="2200" dirty="0">
                          <a:effectLst/>
                          <a:latin typeface="+mj-lt"/>
                          <a:ea typeface="Calibri" panose="020F0502020204030204" pitchFamily="34" charset="0"/>
                          <a:cs typeface="Arial" panose="020B0604020202020204" pitchFamily="34" charset="0"/>
                        </a:rPr>
                        <a:t>Ikraan Abdullahi Ali</a:t>
                      </a:r>
                    </a:p>
                  </a:txBody>
                  <a:tcPr marL="64091" marR="64091" marT="0" marB="0">
                    <a:lnL w="12700" cap="flat" cmpd="sng" algn="ctr">
                      <a:noFill/>
                      <a:prstDash val="solid"/>
                      <a:miter lim="800000"/>
                    </a:lnL>
                    <a:lnR>
                      <a:noFill/>
                    </a:lnR>
                    <a:lnT>
                      <a:noFill/>
                    </a:lnT>
                    <a:lnB>
                      <a:noFill/>
                    </a:lnB>
                    <a:lnTlToBr w="12700" cmpd="sng">
                      <a:noFill/>
                      <a:prstDash val="solid"/>
                    </a:lnTlToBr>
                    <a:lnBlToTr w="12700" cmpd="sng">
                      <a:noFill/>
                      <a:prstDash val="solid"/>
                    </a:lnBlToTr>
                    <a:noFill/>
                  </a:tcPr>
                </a:tc>
                <a:tc>
                  <a:txBody>
                    <a:bodyPr/>
                    <a:lstStyle/>
                    <a:p>
                      <a:pPr marL="0" marR="0">
                        <a:lnSpc>
                          <a:spcPct val="150000"/>
                        </a:lnSpc>
                        <a:spcBef>
                          <a:spcPts val="0"/>
                        </a:spcBef>
                        <a:spcAft>
                          <a:spcPts val="1000"/>
                        </a:spcAft>
                      </a:pPr>
                      <a:r>
                        <a:rPr lang="en-US" sz="2600" dirty="0">
                          <a:effectLst/>
                          <a:latin typeface="+mj-lt"/>
                        </a:rPr>
                        <a:t>12680</a:t>
                      </a:r>
                      <a:endParaRPr lang="en-US" sz="2200" dirty="0">
                        <a:effectLst/>
                        <a:latin typeface="+mj-lt"/>
                        <a:ea typeface="Calibri" panose="020F0502020204030204" pitchFamily="34" charset="0"/>
                        <a:cs typeface="Arial" panose="020B0604020202020204" pitchFamily="34" charset="0"/>
                      </a:endParaRPr>
                    </a:p>
                  </a:txBody>
                  <a:tcPr marL="64091" marR="64091" marT="0" marB="0">
                    <a:lnL>
                      <a:noFill/>
                    </a:lnL>
                    <a:lnR w="6350" cap="flat" cmpd="sng" algn="ctr">
                      <a:noFill/>
                      <a:prstDash val="solid"/>
                      <a:miter lim="800000"/>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206845171"/>
                  </a:ext>
                </a:extLst>
              </a:tr>
              <a:tr h="515387">
                <a:tc>
                  <a:txBody>
                    <a:bodyPr/>
                    <a:lstStyle/>
                    <a:p>
                      <a:pPr marL="0" marR="0">
                        <a:lnSpc>
                          <a:spcPct val="150000"/>
                        </a:lnSpc>
                        <a:spcBef>
                          <a:spcPts val="0"/>
                        </a:spcBef>
                        <a:spcAft>
                          <a:spcPts val="0"/>
                        </a:spcAft>
                      </a:pPr>
                      <a:r>
                        <a:rPr lang="en-US" sz="2600">
                          <a:effectLst/>
                          <a:latin typeface="+mj-lt"/>
                        </a:rPr>
                        <a:t>4</a:t>
                      </a:r>
                      <a:endParaRPr lang="en-US" sz="2200">
                        <a:effectLst/>
                        <a:latin typeface="+mj-lt"/>
                        <a:ea typeface="Calibri" panose="020F0502020204030204" pitchFamily="34" charset="0"/>
                        <a:cs typeface="Arial" panose="020B0604020202020204" pitchFamily="34" charset="0"/>
                      </a:endParaRPr>
                    </a:p>
                  </a:txBody>
                  <a:tcPr marL="64091" marR="64091" marT="0" marB="0">
                    <a:lnL w="6350" cap="flat" cmpd="sng" algn="ctr">
                      <a:noFill/>
                      <a:prstDash val="solid"/>
                      <a:miter lim="800000"/>
                    </a:lnL>
                    <a:lnR w="12700" cap="flat" cmpd="sng" algn="ctr">
                      <a:noFill/>
                      <a:prstDash val="solid"/>
                      <a:miter lim="800000"/>
                    </a:lnR>
                    <a:lnT>
                      <a:noFill/>
                    </a:lnT>
                    <a:lnB>
                      <a:noFill/>
                    </a:lnB>
                    <a:lnTlToBr w="12700" cmpd="sng">
                      <a:noFill/>
                      <a:prstDash val="solid"/>
                    </a:lnTlToBr>
                    <a:lnBlToTr w="12700" cmpd="sng">
                      <a:noFill/>
                      <a:prstDash val="solid"/>
                    </a:lnBlToTr>
                    <a:noFill/>
                  </a:tcPr>
                </a:tc>
                <a:tc>
                  <a:txBody>
                    <a:bodyPr/>
                    <a:lstStyle/>
                    <a:p>
                      <a:pPr marL="0" marR="0">
                        <a:lnSpc>
                          <a:spcPct val="150000"/>
                        </a:lnSpc>
                        <a:spcBef>
                          <a:spcPts val="0"/>
                        </a:spcBef>
                        <a:spcAft>
                          <a:spcPts val="0"/>
                        </a:spcAft>
                      </a:pPr>
                      <a:r>
                        <a:rPr lang="en-US" sz="2200" dirty="0">
                          <a:effectLst/>
                          <a:latin typeface="+mj-lt"/>
                          <a:ea typeface="Calibri" panose="020F0502020204030204" pitchFamily="34" charset="0"/>
                          <a:cs typeface="Arial" panose="020B0604020202020204" pitchFamily="34" charset="0"/>
                        </a:rPr>
                        <a:t>Mohamed Abshir</a:t>
                      </a:r>
                    </a:p>
                  </a:txBody>
                  <a:tcPr marL="64091" marR="64091" marT="0" marB="0">
                    <a:lnL w="12700" cap="flat" cmpd="sng" algn="ctr">
                      <a:noFill/>
                      <a:prstDash val="solid"/>
                      <a:miter lim="800000"/>
                    </a:lnL>
                    <a:lnR>
                      <a:noFill/>
                    </a:lnR>
                    <a:lnT>
                      <a:noFill/>
                    </a:lnT>
                    <a:lnB>
                      <a:noFill/>
                    </a:lnB>
                    <a:lnTlToBr w="12700" cmpd="sng">
                      <a:noFill/>
                      <a:prstDash val="solid"/>
                    </a:lnTlToBr>
                    <a:lnBlToTr w="12700" cmpd="sng">
                      <a:noFill/>
                      <a:prstDash val="solid"/>
                    </a:lnBlToTr>
                    <a:noFill/>
                  </a:tcPr>
                </a:tc>
                <a:tc>
                  <a:txBody>
                    <a:bodyPr/>
                    <a:lstStyle/>
                    <a:p>
                      <a:pPr marL="0" marR="0">
                        <a:lnSpc>
                          <a:spcPct val="150000"/>
                        </a:lnSpc>
                        <a:spcBef>
                          <a:spcPts val="0"/>
                        </a:spcBef>
                        <a:spcAft>
                          <a:spcPts val="1000"/>
                        </a:spcAft>
                      </a:pPr>
                      <a:r>
                        <a:rPr lang="en-US" sz="2600" dirty="0">
                          <a:effectLst/>
                          <a:latin typeface="+mj-lt"/>
                        </a:rPr>
                        <a:t>12857</a:t>
                      </a:r>
                      <a:endParaRPr lang="en-US" sz="2200" dirty="0">
                        <a:effectLst/>
                        <a:latin typeface="+mj-lt"/>
                        <a:ea typeface="Calibri" panose="020F0502020204030204" pitchFamily="34" charset="0"/>
                        <a:cs typeface="Arial" panose="020B0604020202020204" pitchFamily="34" charset="0"/>
                      </a:endParaRPr>
                    </a:p>
                  </a:txBody>
                  <a:tcPr marL="64091" marR="64091" marT="0" marB="0">
                    <a:lnL>
                      <a:noFill/>
                    </a:lnL>
                    <a:lnR w="6350" cap="flat" cmpd="sng" algn="ctr">
                      <a:noFill/>
                      <a:prstDash val="solid"/>
                      <a:miter lim="800000"/>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145401308"/>
                  </a:ext>
                </a:extLst>
              </a:tr>
              <a:tr h="515387">
                <a:tc>
                  <a:txBody>
                    <a:bodyPr/>
                    <a:lstStyle/>
                    <a:p>
                      <a:pPr marL="0" marR="0">
                        <a:lnSpc>
                          <a:spcPct val="150000"/>
                        </a:lnSpc>
                        <a:spcBef>
                          <a:spcPts val="0"/>
                        </a:spcBef>
                        <a:spcAft>
                          <a:spcPts val="0"/>
                        </a:spcAft>
                      </a:pPr>
                      <a:r>
                        <a:rPr lang="en-US" sz="2600">
                          <a:effectLst/>
                          <a:latin typeface="+mj-lt"/>
                        </a:rPr>
                        <a:t>5</a:t>
                      </a:r>
                      <a:endParaRPr lang="en-US" sz="2200">
                        <a:effectLst/>
                        <a:latin typeface="+mj-lt"/>
                        <a:ea typeface="Calibri" panose="020F0502020204030204" pitchFamily="34" charset="0"/>
                        <a:cs typeface="Arial" panose="020B0604020202020204" pitchFamily="34" charset="0"/>
                      </a:endParaRPr>
                    </a:p>
                  </a:txBody>
                  <a:tcPr marL="64091" marR="64091" marT="0" marB="0">
                    <a:lnL w="6350" cap="flat" cmpd="sng" algn="ctr">
                      <a:noFill/>
                      <a:prstDash val="solid"/>
                      <a:miter lim="800000"/>
                    </a:lnL>
                    <a:lnR w="12700" cap="flat" cmpd="sng" algn="ctr">
                      <a:noFill/>
                      <a:prstDash val="solid"/>
                      <a:miter lim="800000"/>
                    </a:lnR>
                    <a:lnT>
                      <a:noFill/>
                    </a:lnT>
                    <a:lnB>
                      <a:noFill/>
                    </a:lnB>
                    <a:lnTlToBr w="12700" cmpd="sng">
                      <a:noFill/>
                      <a:prstDash val="solid"/>
                    </a:lnTlToBr>
                    <a:lnBlToTr w="12700" cmpd="sng">
                      <a:noFill/>
                      <a:prstDash val="solid"/>
                    </a:lnBlToTr>
                    <a:noFill/>
                  </a:tcPr>
                </a:tc>
                <a:tc>
                  <a:txBody>
                    <a:bodyPr/>
                    <a:lstStyle/>
                    <a:p>
                      <a:pPr marL="0" marR="0">
                        <a:lnSpc>
                          <a:spcPct val="150000"/>
                        </a:lnSpc>
                        <a:spcBef>
                          <a:spcPts val="0"/>
                        </a:spcBef>
                        <a:spcAft>
                          <a:spcPts val="0"/>
                        </a:spcAft>
                      </a:pPr>
                      <a:r>
                        <a:rPr lang="en-US" sz="2200" dirty="0">
                          <a:effectLst/>
                          <a:latin typeface="+mj-lt"/>
                          <a:ea typeface="Calibri" panose="020F0502020204030204" pitchFamily="34" charset="0"/>
                          <a:cs typeface="Arial" panose="020B0604020202020204" pitchFamily="34" charset="0"/>
                        </a:rPr>
                        <a:t>Mohamed Abdikadir</a:t>
                      </a:r>
                    </a:p>
                  </a:txBody>
                  <a:tcPr marL="64091" marR="64091" marT="0" marB="0">
                    <a:lnL w="12700" cap="flat" cmpd="sng" algn="ctr">
                      <a:noFill/>
                      <a:prstDash val="solid"/>
                      <a:miter lim="800000"/>
                    </a:lnL>
                    <a:lnR>
                      <a:noFill/>
                    </a:lnR>
                    <a:lnT>
                      <a:noFill/>
                    </a:lnT>
                    <a:lnB>
                      <a:noFill/>
                    </a:lnB>
                    <a:lnTlToBr w="12700" cmpd="sng">
                      <a:noFill/>
                      <a:prstDash val="solid"/>
                    </a:lnTlToBr>
                    <a:lnBlToTr w="12700" cmpd="sng">
                      <a:noFill/>
                      <a:prstDash val="solid"/>
                    </a:lnBlToTr>
                    <a:noFill/>
                  </a:tcPr>
                </a:tc>
                <a:tc>
                  <a:txBody>
                    <a:bodyPr/>
                    <a:lstStyle/>
                    <a:p>
                      <a:pPr marL="0" marR="0">
                        <a:lnSpc>
                          <a:spcPct val="150000"/>
                        </a:lnSpc>
                        <a:spcBef>
                          <a:spcPts val="0"/>
                        </a:spcBef>
                        <a:spcAft>
                          <a:spcPts val="1000"/>
                        </a:spcAft>
                      </a:pPr>
                      <a:r>
                        <a:rPr lang="en-US" sz="2600" dirty="0">
                          <a:effectLst/>
                          <a:latin typeface="+mj-lt"/>
                        </a:rPr>
                        <a:t>11940</a:t>
                      </a:r>
                      <a:endParaRPr lang="en-US" sz="2200" dirty="0">
                        <a:effectLst/>
                        <a:latin typeface="+mj-lt"/>
                        <a:ea typeface="Calibri" panose="020F0502020204030204" pitchFamily="34" charset="0"/>
                        <a:cs typeface="Arial" panose="020B0604020202020204" pitchFamily="34" charset="0"/>
                      </a:endParaRPr>
                    </a:p>
                  </a:txBody>
                  <a:tcPr marL="64091" marR="64091" marT="0" marB="0">
                    <a:lnL>
                      <a:noFill/>
                    </a:lnL>
                    <a:lnR w="6350" cap="flat" cmpd="sng" algn="ctr">
                      <a:noFill/>
                      <a:prstDash val="solid"/>
                      <a:miter lim="800000"/>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511360424"/>
                  </a:ext>
                </a:extLst>
              </a:tr>
              <a:tr h="515387">
                <a:tc>
                  <a:txBody>
                    <a:bodyPr/>
                    <a:lstStyle/>
                    <a:p>
                      <a:pPr marL="0" marR="0">
                        <a:lnSpc>
                          <a:spcPct val="150000"/>
                        </a:lnSpc>
                        <a:spcBef>
                          <a:spcPts val="0"/>
                        </a:spcBef>
                        <a:spcAft>
                          <a:spcPts val="0"/>
                        </a:spcAft>
                      </a:pPr>
                      <a:r>
                        <a:rPr lang="en-US" sz="2600">
                          <a:effectLst/>
                          <a:latin typeface="+mj-lt"/>
                        </a:rPr>
                        <a:t>6</a:t>
                      </a:r>
                      <a:endParaRPr lang="en-US" sz="2200">
                        <a:effectLst/>
                        <a:latin typeface="+mj-lt"/>
                        <a:ea typeface="Calibri" panose="020F0502020204030204" pitchFamily="34" charset="0"/>
                        <a:cs typeface="Arial" panose="020B0604020202020204" pitchFamily="34" charset="0"/>
                      </a:endParaRPr>
                    </a:p>
                  </a:txBody>
                  <a:tcPr marL="64091" marR="64091" marT="0" marB="0">
                    <a:lnL w="6350" cap="flat" cmpd="sng" algn="ctr">
                      <a:noFill/>
                      <a:prstDash val="solid"/>
                      <a:miter lim="800000"/>
                    </a:lnL>
                    <a:lnR w="12700" cap="flat" cmpd="sng" algn="ctr">
                      <a:noFill/>
                      <a:prstDash val="solid"/>
                      <a:miter lim="800000"/>
                    </a:lnR>
                    <a:lnT>
                      <a:noFill/>
                    </a:lnT>
                    <a:lnB>
                      <a:noFill/>
                    </a:lnB>
                    <a:lnTlToBr w="12700" cmpd="sng">
                      <a:noFill/>
                      <a:prstDash val="solid"/>
                    </a:lnTlToBr>
                    <a:lnBlToTr w="12700" cmpd="sng">
                      <a:noFill/>
                      <a:prstDash val="solid"/>
                    </a:lnBlToTr>
                    <a:noFill/>
                  </a:tcPr>
                </a:tc>
                <a:tc>
                  <a:txBody>
                    <a:bodyPr/>
                    <a:lstStyle/>
                    <a:p>
                      <a:pPr marL="0" marR="0">
                        <a:lnSpc>
                          <a:spcPct val="150000"/>
                        </a:lnSpc>
                        <a:spcBef>
                          <a:spcPts val="0"/>
                        </a:spcBef>
                        <a:spcAft>
                          <a:spcPts val="0"/>
                        </a:spcAft>
                      </a:pPr>
                      <a:r>
                        <a:rPr lang="en-US" sz="2200" dirty="0">
                          <a:effectLst/>
                          <a:latin typeface="+mj-lt"/>
                          <a:ea typeface="Calibri" panose="020F0502020204030204" pitchFamily="34" charset="0"/>
                          <a:cs typeface="Arial" panose="020B0604020202020204" pitchFamily="34" charset="0"/>
                        </a:rPr>
                        <a:t>Ayan Ismail Ahmed</a:t>
                      </a:r>
                    </a:p>
                  </a:txBody>
                  <a:tcPr marL="64091" marR="64091" marT="0" marB="0">
                    <a:lnL w="12700" cap="flat" cmpd="sng" algn="ctr">
                      <a:noFill/>
                      <a:prstDash val="solid"/>
                      <a:miter lim="800000"/>
                    </a:lnL>
                    <a:lnR>
                      <a:noFill/>
                    </a:lnR>
                    <a:lnT>
                      <a:noFill/>
                    </a:lnT>
                    <a:lnB>
                      <a:noFill/>
                    </a:lnB>
                    <a:lnTlToBr w="12700" cmpd="sng">
                      <a:noFill/>
                      <a:prstDash val="solid"/>
                    </a:lnTlToBr>
                    <a:lnBlToTr w="12700" cmpd="sng">
                      <a:noFill/>
                      <a:prstDash val="solid"/>
                    </a:lnBlToTr>
                    <a:noFill/>
                  </a:tcPr>
                </a:tc>
                <a:tc>
                  <a:txBody>
                    <a:bodyPr/>
                    <a:lstStyle/>
                    <a:p>
                      <a:pPr marL="0" marR="0">
                        <a:lnSpc>
                          <a:spcPct val="150000"/>
                        </a:lnSpc>
                        <a:spcBef>
                          <a:spcPts val="0"/>
                        </a:spcBef>
                        <a:spcAft>
                          <a:spcPts val="1000"/>
                        </a:spcAft>
                      </a:pPr>
                      <a:r>
                        <a:rPr lang="en-US" sz="2200" dirty="0">
                          <a:effectLst/>
                          <a:latin typeface="+mj-lt"/>
                          <a:ea typeface="Calibri" panose="020F0502020204030204" pitchFamily="34" charset="0"/>
                          <a:cs typeface="Arial" panose="020B0604020202020204" pitchFamily="34" charset="0"/>
                        </a:rPr>
                        <a:t>13068</a:t>
                      </a:r>
                    </a:p>
                  </a:txBody>
                  <a:tcPr marL="64091" marR="64091" marT="0" marB="0">
                    <a:lnL>
                      <a:noFill/>
                    </a:lnL>
                    <a:lnR w="6350" cap="flat" cmpd="sng" algn="ctr">
                      <a:noFill/>
                      <a:prstDash val="solid"/>
                      <a:miter lim="800000"/>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875085401"/>
                  </a:ext>
                </a:extLst>
              </a:tr>
              <a:tr h="515387">
                <a:tc>
                  <a:txBody>
                    <a:bodyPr/>
                    <a:lstStyle/>
                    <a:p>
                      <a:pPr marL="0" marR="0">
                        <a:lnSpc>
                          <a:spcPct val="150000"/>
                        </a:lnSpc>
                        <a:spcBef>
                          <a:spcPts val="0"/>
                        </a:spcBef>
                        <a:spcAft>
                          <a:spcPts val="0"/>
                        </a:spcAft>
                      </a:pPr>
                      <a:r>
                        <a:rPr lang="en-US" sz="2600">
                          <a:effectLst/>
                          <a:latin typeface="+mj-lt"/>
                        </a:rPr>
                        <a:t>7</a:t>
                      </a:r>
                      <a:endParaRPr lang="en-US" sz="2200">
                        <a:effectLst/>
                        <a:latin typeface="+mj-lt"/>
                        <a:ea typeface="Calibri" panose="020F0502020204030204" pitchFamily="34" charset="0"/>
                        <a:cs typeface="Arial" panose="020B0604020202020204" pitchFamily="34" charset="0"/>
                      </a:endParaRPr>
                    </a:p>
                  </a:txBody>
                  <a:tcPr marL="64091" marR="64091" marT="0" marB="0">
                    <a:lnL w="6350" cap="flat" cmpd="sng" algn="ctr">
                      <a:noFill/>
                      <a:prstDash val="solid"/>
                      <a:miter lim="800000"/>
                    </a:lnL>
                    <a:lnR w="12700" cap="flat" cmpd="sng" algn="ctr">
                      <a:noFill/>
                      <a:prstDash val="solid"/>
                      <a:miter lim="800000"/>
                    </a:lnR>
                    <a:lnT>
                      <a:noFill/>
                    </a:lnT>
                    <a:lnB>
                      <a:noFill/>
                    </a:lnB>
                    <a:lnTlToBr w="12700" cmpd="sng">
                      <a:noFill/>
                      <a:prstDash val="solid"/>
                    </a:lnTlToBr>
                    <a:lnBlToTr w="12700" cmpd="sng">
                      <a:noFill/>
                      <a:prstDash val="solid"/>
                    </a:lnBlToTr>
                    <a:noFill/>
                  </a:tcPr>
                </a:tc>
                <a:tc>
                  <a:txBody>
                    <a:bodyPr/>
                    <a:lstStyle/>
                    <a:p>
                      <a:pPr marL="0" marR="0">
                        <a:lnSpc>
                          <a:spcPct val="150000"/>
                        </a:lnSpc>
                        <a:spcBef>
                          <a:spcPts val="0"/>
                        </a:spcBef>
                        <a:spcAft>
                          <a:spcPts val="0"/>
                        </a:spcAft>
                      </a:pPr>
                      <a:r>
                        <a:rPr lang="en-US" sz="2200" dirty="0">
                          <a:effectLst/>
                          <a:latin typeface="+mj-lt"/>
                          <a:ea typeface="Calibri" panose="020F0502020204030204" pitchFamily="34" charset="0"/>
                          <a:cs typeface="Arial" panose="020B0604020202020204" pitchFamily="34" charset="0"/>
                        </a:rPr>
                        <a:t>Hamdi Abdinor Osman</a:t>
                      </a:r>
                    </a:p>
                  </a:txBody>
                  <a:tcPr marL="64091" marR="64091" marT="0" marB="0">
                    <a:lnL w="12700" cap="flat" cmpd="sng" algn="ctr">
                      <a:noFill/>
                      <a:prstDash val="solid"/>
                      <a:miter lim="800000"/>
                    </a:lnL>
                    <a:lnR>
                      <a:noFill/>
                    </a:lnR>
                    <a:lnT>
                      <a:noFill/>
                    </a:lnT>
                    <a:lnB>
                      <a:noFill/>
                    </a:lnB>
                    <a:lnTlToBr w="12700" cmpd="sng">
                      <a:noFill/>
                      <a:prstDash val="solid"/>
                    </a:lnTlToBr>
                    <a:lnBlToTr w="12700" cmpd="sng">
                      <a:noFill/>
                      <a:prstDash val="solid"/>
                    </a:lnBlToTr>
                    <a:noFill/>
                  </a:tcPr>
                </a:tc>
                <a:tc>
                  <a:txBody>
                    <a:bodyPr/>
                    <a:lstStyle/>
                    <a:p>
                      <a:pPr marL="0" marR="0">
                        <a:lnSpc>
                          <a:spcPct val="150000"/>
                        </a:lnSpc>
                        <a:spcBef>
                          <a:spcPts val="0"/>
                        </a:spcBef>
                        <a:spcAft>
                          <a:spcPts val="1000"/>
                        </a:spcAft>
                      </a:pPr>
                      <a:r>
                        <a:rPr lang="en-US" sz="2200" dirty="0">
                          <a:effectLst/>
                          <a:latin typeface="+mj-lt"/>
                          <a:ea typeface="Calibri" panose="020F0502020204030204" pitchFamily="34" charset="0"/>
                          <a:cs typeface="Arial" panose="020B0604020202020204" pitchFamily="34" charset="0"/>
                        </a:rPr>
                        <a:t>13285</a:t>
                      </a:r>
                    </a:p>
                  </a:txBody>
                  <a:tcPr marL="64091" marR="64091" marT="0" marB="0">
                    <a:lnL>
                      <a:noFill/>
                    </a:lnL>
                    <a:lnR w="6350" cap="flat" cmpd="sng" algn="ctr">
                      <a:noFill/>
                      <a:prstDash val="solid"/>
                      <a:miter lim="800000"/>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424086882"/>
                  </a:ext>
                </a:extLst>
              </a:tr>
              <a:tr h="515387">
                <a:tc>
                  <a:txBody>
                    <a:bodyPr/>
                    <a:lstStyle/>
                    <a:p>
                      <a:pPr marL="0" marR="0">
                        <a:lnSpc>
                          <a:spcPct val="150000"/>
                        </a:lnSpc>
                        <a:spcBef>
                          <a:spcPts val="0"/>
                        </a:spcBef>
                        <a:spcAft>
                          <a:spcPts val="0"/>
                        </a:spcAft>
                      </a:pPr>
                      <a:r>
                        <a:rPr lang="en-US" sz="2600" dirty="0">
                          <a:effectLst/>
                          <a:latin typeface="+mj-lt"/>
                        </a:rPr>
                        <a:t>8</a:t>
                      </a:r>
                      <a:endParaRPr lang="en-US" sz="2200" dirty="0">
                        <a:effectLst/>
                        <a:latin typeface="+mj-lt"/>
                        <a:ea typeface="Calibri" panose="020F0502020204030204" pitchFamily="34" charset="0"/>
                        <a:cs typeface="Arial" panose="020B0604020202020204" pitchFamily="34" charset="0"/>
                      </a:endParaRPr>
                    </a:p>
                  </a:txBody>
                  <a:tcPr marL="64091" marR="64091" marT="0" marB="0">
                    <a:lnL w="6350" cap="flat" cmpd="sng" algn="ctr">
                      <a:noFill/>
                      <a:prstDash val="solid"/>
                      <a:miter lim="800000"/>
                    </a:lnL>
                    <a:lnR w="12700" cap="flat" cmpd="sng" algn="ctr">
                      <a:noFill/>
                      <a:prstDash val="solid"/>
                      <a:miter lim="800000"/>
                    </a:lnR>
                    <a:lnT>
                      <a:noFill/>
                    </a:lnT>
                    <a:lnB>
                      <a:noFill/>
                    </a:lnB>
                    <a:lnTlToBr w="12700" cmpd="sng">
                      <a:noFill/>
                      <a:prstDash val="solid"/>
                    </a:lnTlToBr>
                    <a:lnBlToTr w="12700" cmpd="sng">
                      <a:noFill/>
                      <a:prstDash val="solid"/>
                    </a:lnBlToTr>
                    <a:noFill/>
                  </a:tcPr>
                </a:tc>
                <a:tc>
                  <a:txBody>
                    <a:bodyPr/>
                    <a:lstStyle/>
                    <a:p>
                      <a:pPr marL="0" marR="0">
                        <a:lnSpc>
                          <a:spcPct val="150000"/>
                        </a:lnSpc>
                        <a:spcBef>
                          <a:spcPts val="0"/>
                        </a:spcBef>
                        <a:spcAft>
                          <a:spcPts val="0"/>
                        </a:spcAft>
                      </a:pPr>
                      <a:r>
                        <a:rPr lang="en-US" sz="2200" dirty="0">
                          <a:effectLst/>
                          <a:latin typeface="+mj-lt"/>
                          <a:ea typeface="Calibri" panose="020F0502020204030204" pitchFamily="34" charset="0"/>
                          <a:cs typeface="Arial" panose="020B0604020202020204" pitchFamily="34" charset="0"/>
                        </a:rPr>
                        <a:t>Abdi </a:t>
                      </a:r>
                      <a:r>
                        <a:rPr lang="en-US" sz="2200" dirty="0" err="1">
                          <a:effectLst/>
                          <a:latin typeface="+mj-lt"/>
                          <a:ea typeface="Calibri" panose="020F0502020204030204" pitchFamily="34" charset="0"/>
                          <a:cs typeface="Arial" panose="020B0604020202020204" pitchFamily="34" charset="0"/>
                        </a:rPr>
                        <a:t>rahman</a:t>
                      </a:r>
                      <a:r>
                        <a:rPr lang="en-US" sz="2200" dirty="0">
                          <a:effectLst/>
                          <a:latin typeface="+mj-lt"/>
                          <a:ea typeface="Calibri" panose="020F0502020204030204" pitchFamily="34" charset="0"/>
                          <a:cs typeface="Arial" panose="020B0604020202020204" pitchFamily="34" charset="0"/>
                        </a:rPr>
                        <a:t> </a:t>
                      </a:r>
                      <a:r>
                        <a:rPr lang="en-US" sz="2200" dirty="0" err="1">
                          <a:effectLst/>
                          <a:latin typeface="+mj-lt"/>
                          <a:ea typeface="Calibri" panose="020F0502020204030204" pitchFamily="34" charset="0"/>
                          <a:cs typeface="Arial" panose="020B0604020202020204" pitchFamily="34" charset="0"/>
                        </a:rPr>
                        <a:t>Abdshir</a:t>
                      </a:r>
                      <a:r>
                        <a:rPr lang="en-US" sz="2200" dirty="0">
                          <a:effectLst/>
                          <a:latin typeface="+mj-lt"/>
                          <a:ea typeface="Calibri" panose="020F0502020204030204" pitchFamily="34" charset="0"/>
                          <a:cs typeface="Arial" panose="020B0604020202020204" pitchFamily="34" charset="0"/>
                        </a:rPr>
                        <a:t> Awale </a:t>
                      </a:r>
                    </a:p>
                  </a:txBody>
                  <a:tcPr marL="64091" marR="64091" marT="0" marB="0">
                    <a:lnL w="12700" cap="flat" cmpd="sng" algn="ctr">
                      <a:noFill/>
                      <a:prstDash val="solid"/>
                      <a:miter lim="800000"/>
                    </a:lnL>
                    <a:lnR>
                      <a:noFill/>
                    </a:lnR>
                    <a:lnT>
                      <a:noFill/>
                    </a:lnT>
                    <a:lnB>
                      <a:noFill/>
                    </a:lnB>
                    <a:lnTlToBr w="12700" cmpd="sng">
                      <a:noFill/>
                      <a:prstDash val="solid"/>
                    </a:lnTlToBr>
                    <a:lnBlToTr w="12700" cmpd="sng">
                      <a:noFill/>
                      <a:prstDash val="solid"/>
                    </a:lnBlToTr>
                    <a:noFill/>
                  </a:tcPr>
                </a:tc>
                <a:tc>
                  <a:txBody>
                    <a:bodyPr/>
                    <a:lstStyle/>
                    <a:p>
                      <a:pPr marL="0" marR="0">
                        <a:lnSpc>
                          <a:spcPct val="150000"/>
                        </a:lnSpc>
                        <a:spcBef>
                          <a:spcPts val="0"/>
                        </a:spcBef>
                        <a:spcAft>
                          <a:spcPts val="1000"/>
                        </a:spcAft>
                      </a:pPr>
                      <a:r>
                        <a:rPr lang="en-US" sz="2200" dirty="0">
                          <a:effectLst/>
                          <a:latin typeface="+mj-lt"/>
                          <a:ea typeface="Calibri" panose="020F0502020204030204" pitchFamily="34" charset="0"/>
                          <a:cs typeface="Arial" panose="020B0604020202020204" pitchFamily="34" charset="0"/>
                        </a:rPr>
                        <a:t>12537</a:t>
                      </a:r>
                    </a:p>
                  </a:txBody>
                  <a:tcPr marL="64091" marR="64091" marT="0" marB="0">
                    <a:lnL>
                      <a:noFill/>
                    </a:lnL>
                    <a:lnR w="6350" cap="flat" cmpd="sng" algn="ctr">
                      <a:noFill/>
                      <a:prstDash val="solid"/>
                      <a:miter lim="800000"/>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109436376"/>
                  </a:ext>
                </a:extLst>
              </a:tr>
              <a:tr h="515387">
                <a:tc>
                  <a:txBody>
                    <a:bodyPr/>
                    <a:lstStyle/>
                    <a:p>
                      <a:pPr marL="0" marR="0">
                        <a:lnSpc>
                          <a:spcPct val="150000"/>
                        </a:lnSpc>
                        <a:spcBef>
                          <a:spcPts val="0"/>
                        </a:spcBef>
                        <a:spcAft>
                          <a:spcPts val="0"/>
                        </a:spcAft>
                      </a:pPr>
                      <a:r>
                        <a:rPr lang="en-US" sz="2600" dirty="0">
                          <a:effectLst/>
                          <a:latin typeface="+mj-lt"/>
                        </a:rPr>
                        <a:t>9</a:t>
                      </a:r>
                      <a:endParaRPr lang="en-US" sz="2200" dirty="0">
                        <a:effectLst/>
                        <a:latin typeface="+mj-lt"/>
                        <a:ea typeface="Calibri" panose="020F0502020204030204" pitchFamily="34" charset="0"/>
                        <a:cs typeface="Arial" panose="020B0604020202020204" pitchFamily="34" charset="0"/>
                      </a:endParaRPr>
                    </a:p>
                  </a:txBody>
                  <a:tcPr marL="64091" marR="64091" marT="0" marB="0">
                    <a:lnL w="6350" cap="flat" cmpd="sng" algn="ctr">
                      <a:noFill/>
                      <a:prstDash val="solid"/>
                      <a:miter lim="800000"/>
                    </a:lnL>
                    <a:lnR w="12700" cap="flat" cmpd="sng" algn="ctr">
                      <a:noFill/>
                      <a:prstDash val="solid"/>
                      <a:miter lim="800000"/>
                    </a:lnR>
                    <a:lnT>
                      <a:noFill/>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a:lnSpc>
                          <a:spcPct val="150000"/>
                        </a:lnSpc>
                        <a:spcBef>
                          <a:spcPts val="0"/>
                        </a:spcBef>
                        <a:spcAft>
                          <a:spcPts val="0"/>
                        </a:spcAft>
                      </a:pPr>
                      <a:r>
                        <a:rPr lang="en-US" sz="2200" dirty="0">
                          <a:effectLst/>
                          <a:latin typeface="+mj-lt"/>
                          <a:ea typeface="Calibri" panose="020F0502020204030204" pitchFamily="34" charset="0"/>
                          <a:cs typeface="Arial" panose="020B0604020202020204" pitchFamily="34" charset="0"/>
                        </a:rPr>
                        <a:t>Mohamed Said Mohamed</a:t>
                      </a:r>
                    </a:p>
                  </a:txBody>
                  <a:tcPr marL="64091" marR="64091" marT="0" marB="0">
                    <a:lnL w="12700" cap="flat" cmpd="sng" algn="ctr">
                      <a:noFill/>
                      <a:prstDash val="solid"/>
                      <a:miter lim="800000"/>
                    </a:lnL>
                    <a:lnR>
                      <a:noFill/>
                    </a:lnR>
                    <a:lnT>
                      <a:noFill/>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a:lnSpc>
                          <a:spcPct val="150000"/>
                        </a:lnSpc>
                        <a:spcBef>
                          <a:spcPts val="0"/>
                        </a:spcBef>
                        <a:spcAft>
                          <a:spcPts val="1000"/>
                        </a:spcAft>
                      </a:pPr>
                      <a:r>
                        <a:rPr lang="en-US" sz="2200" dirty="0">
                          <a:effectLst/>
                          <a:latin typeface="+mj-lt"/>
                          <a:ea typeface="Calibri" panose="020F0502020204030204" pitchFamily="34" charset="0"/>
                          <a:cs typeface="Arial" panose="020B0604020202020204" pitchFamily="34" charset="0"/>
                        </a:rPr>
                        <a:t>16162</a:t>
                      </a:r>
                    </a:p>
                  </a:txBody>
                  <a:tcPr marL="64091" marR="64091" marT="0" marB="0">
                    <a:lnL>
                      <a:noFill/>
                    </a:lnL>
                    <a:lnR w="6350" cap="flat" cmpd="sng" algn="ctr">
                      <a:noFill/>
                      <a:prstDash val="solid"/>
                      <a:miter lim="800000"/>
                    </a:lnR>
                    <a:lnT>
                      <a:noFill/>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755990438"/>
                  </a:ext>
                </a:extLst>
              </a:tr>
              <a:tr h="436140">
                <a:tc>
                  <a:txBody>
                    <a:bodyPr/>
                    <a:lstStyle/>
                    <a:p>
                      <a:pPr marL="0" marR="0">
                        <a:lnSpc>
                          <a:spcPct val="150000"/>
                        </a:lnSpc>
                        <a:spcBef>
                          <a:spcPts val="0"/>
                        </a:spcBef>
                        <a:spcAft>
                          <a:spcPts val="0"/>
                        </a:spcAft>
                      </a:pPr>
                      <a:r>
                        <a:rPr lang="en-US" sz="2200" dirty="0">
                          <a:effectLst/>
                          <a:latin typeface="+mj-lt"/>
                          <a:ea typeface="Calibri" panose="020F0502020204030204" pitchFamily="34" charset="0"/>
                          <a:cs typeface="Arial" panose="020B0604020202020204" pitchFamily="34" charset="0"/>
                        </a:rPr>
                        <a:t>10</a:t>
                      </a:r>
                    </a:p>
                  </a:txBody>
                  <a:tcPr marL="64091" marR="64091" marT="0" marB="0">
                    <a:lnL w="6350" cap="flat" cmpd="sng" algn="ctr">
                      <a:noFill/>
                      <a:prstDash val="solid"/>
                      <a:miter lim="800000"/>
                    </a:lnL>
                    <a:lnR w="12700" cap="flat" cmpd="sng" algn="ctr">
                      <a:noFill/>
                      <a:prstDash val="solid"/>
                      <a:miter lim="800000"/>
                    </a:lnR>
                    <a:lnT>
                      <a:noFill/>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a:lnSpc>
                          <a:spcPct val="150000"/>
                        </a:lnSpc>
                        <a:spcBef>
                          <a:spcPts val="0"/>
                        </a:spcBef>
                        <a:spcAft>
                          <a:spcPts val="0"/>
                        </a:spcAft>
                      </a:pPr>
                      <a:r>
                        <a:rPr lang="en-US" sz="2200" dirty="0">
                          <a:effectLst/>
                          <a:latin typeface="+mj-lt"/>
                          <a:ea typeface="Calibri" panose="020F0502020204030204" pitchFamily="34" charset="0"/>
                          <a:cs typeface="Arial" panose="020B0604020202020204" pitchFamily="34" charset="0"/>
                        </a:rPr>
                        <a:t>Faduma Ali Musa</a:t>
                      </a:r>
                    </a:p>
                  </a:txBody>
                  <a:tcPr marL="64091" marR="64091" marT="0" marB="0">
                    <a:lnL w="12700" cap="flat" cmpd="sng" algn="ctr">
                      <a:noFill/>
                      <a:prstDash val="solid"/>
                      <a:miter lim="800000"/>
                    </a:lnL>
                    <a:lnR>
                      <a:noFill/>
                    </a:lnR>
                    <a:lnT>
                      <a:noFill/>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a:lnSpc>
                          <a:spcPct val="150000"/>
                        </a:lnSpc>
                        <a:spcBef>
                          <a:spcPts val="0"/>
                        </a:spcBef>
                        <a:spcAft>
                          <a:spcPts val="1000"/>
                        </a:spcAft>
                      </a:pPr>
                      <a:r>
                        <a:rPr lang="en-US" sz="2200" dirty="0">
                          <a:effectLst/>
                          <a:latin typeface="+mj-lt"/>
                          <a:ea typeface="Calibri" panose="020F0502020204030204" pitchFamily="34" charset="0"/>
                          <a:cs typeface="Arial" panose="020B0604020202020204" pitchFamily="34" charset="0"/>
                        </a:rPr>
                        <a:t>10378</a:t>
                      </a:r>
                    </a:p>
                  </a:txBody>
                  <a:tcPr marL="64091" marR="64091" marT="0" marB="0">
                    <a:lnL>
                      <a:noFill/>
                    </a:lnL>
                    <a:lnR w="6350" cap="flat" cmpd="sng" algn="ctr">
                      <a:noFill/>
                      <a:prstDash val="solid"/>
                      <a:miter lim="800000"/>
                    </a:lnR>
                    <a:lnT>
                      <a:noFill/>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658455041"/>
                  </a:ext>
                </a:extLst>
              </a:tr>
              <a:tr h="436140">
                <a:tc>
                  <a:txBody>
                    <a:bodyPr/>
                    <a:lstStyle/>
                    <a:p>
                      <a:pPr marL="0" marR="0">
                        <a:lnSpc>
                          <a:spcPct val="150000"/>
                        </a:lnSpc>
                        <a:spcBef>
                          <a:spcPts val="0"/>
                        </a:spcBef>
                        <a:spcAft>
                          <a:spcPts val="0"/>
                        </a:spcAft>
                      </a:pPr>
                      <a:r>
                        <a:rPr lang="en-US" sz="2200" dirty="0">
                          <a:effectLst/>
                          <a:latin typeface="+mj-lt"/>
                          <a:ea typeface="Calibri" panose="020F0502020204030204" pitchFamily="34" charset="0"/>
                          <a:cs typeface="Arial" panose="020B0604020202020204" pitchFamily="34" charset="0"/>
                        </a:rPr>
                        <a:t>11</a:t>
                      </a:r>
                    </a:p>
                  </a:txBody>
                  <a:tcPr marL="64091" marR="64091" marT="0" marB="0">
                    <a:lnL w="6350" cap="flat" cmpd="sng" algn="ctr">
                      <a:noFill/>
                      <a:prstDash val="solid"/>
                      <a:miter lim="800000"/>
                    </a:lnL>
                    <a:lnR w="12700" cap="flat" cmpd="sng" algn="ctr">
                      <a:noFill/>
                      <a:prstDash val="solid"/>
                      <a:miter lim="800000"/>
                    </a:lnR>
                    <a:lnT>
                      <a:noFill/>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a:lnSpc>
                          <a:spcPct val="150000"/>
                        </a:lnSpc>
                        <a:spcBef>
                          <a:spcPts val="0"/>
                        </a:spcBef>
                        <a:spcAft>
                          <a:spcPts val="0"/>
                        </a:spcAft>
                      </a:pPr>
                      <a:r>
                        <a:rPr lang="en-US" sz="2200" dirty="0">
                          <a:effectLst/>
                          <a:latin typeface="+mj-lt"/>
                          <a:ea typeface="Calibri" panose="020F0502020204030204" pitchFamily="34" charset="0"/>
                          <a:cs typeface="Arial" panose="020B0604020202020204" pitchFamily="34" charset="0"/>
                        </a:rPr>
                        <a:t>Abdi  </a:t>
                      </a:r>
                      <a:r>
                        <a:rPr lang="en-US" sz="2200" dirty="0" err="1">
                          <a:effectLst/>
                          <a:latin typeface="+mj-lt"/>
                          <a:ea typeface="Calibri" panose="020F0502020204030204" pitchFamily="34" charset="0"/>
                          <a:cs typeface="Arial" panose="020B0604020202020204" pitchFamily="34" charset="0"/>
                        </a:rPr>
                        <a:t>Salaan</a:t>
                      </a:r>
                      <a:r>
                        <a:rPr lang="en-US" sz="2200" dirty="0">
                          <a:effectLst/>
                          <a:latin typeface="+mj-lt"/>
                          <a:ea typeface="Calibri" panose="020F0502020204030204" pitchFamily="34" charset="0"/>
                          <a:cs typeface="Arial" panose="020B0604020202020204" pitchFamily="34" charset="0"/>
                        </a:rPr>
                        <a:t> Ali Osman</a:t>
                      </a:r>
                    </a:p>
                  </a:txBody>
                  <a:tcPr marL="64091" marR="64091" marT="0" marB="0">
                    <a:lnL w="12700" cap="flat" cmpd="sng" algn="ctr">
                      <a:noFill/>
                      <a:prstDash val="solid"/>
                      <a:miter lim="800000"/>
                    </a:lnL>
                    <a:lnR>
                      <a:noFill/>
                    </a:lnR>
                    <a:lnT>
                      <a:noFill/>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a:lnSpc>
                          <a:spcPct val="150000"/>
                        </a:lnSpc>
                        <a:spcBef>
                          <a:spcPts val="0"/>
                        </a:spcBef>
                        <a:spcAft>
                          <a:spcPts val="1000"/>
                        </a:spcAft>
                      </a:pPr>
                      <a:r>
                        <a:rPr lang="en-US" sz="2200" dirty="0">
                          <a:effectLst/>
                          <a:latin typeface="+mj-lt"/>
                          <a:ea typeface="Calibri" panose="020F0502020204030204" pitchFamily="34" charset="0"/>
                          <a:cs typeface="Arial" panose="020B0604020202020204" pitchFamily="34" charset="0"/>
                        </a:rPr>
                        <a:t>12954</a:t>
                      </a:r>
                    </a:p>
                  </a:txBody>
                  <a:tcPr marL="64091" marR="64091" marT="0" marB="0">
                    <a:lnL>
                      <a:noFill/>
                    </a:lnL>
                    <a:lnR w="6350" cap="flat" cmpd="sng" algn="ctr">
                      <a:noFill/>
                      <a:prstDash val="solid"/>
                      <a:miter lim="800000"/>
                    </a:lnR>
                    <a:lnT>
                      <a:noFill/>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2105527594"/>
                  </a:ext>
                </a:extLst>
              </a:tr>
              <a:tr h="436140">
                <a:tc>
                  <a:txBody>
                    <a:bodyPr/>
                    <a:lstStyle/>
                    <a:p>
                      <a:pPr marL="0" marR="0">
                        <a:lnSpc>
                          <a:spcPct val="150000"/>
                        </a:lnSpc>
                        <a:spcBef>
                          <a:spcPts val="0"/>
                        </a:spcBef>
                        <a:spcAft>
                          <a:spcPts val="0"/>
                        </a:spcAft>
                      </a:pPr>
                      <a:r>
                        <a:rPr lang="en-US" sz="2200" dirty="0">
                          <a:effectLst/>
                          <a:latin typeface="+mj-lt"/>
                          <a:ea typeface="Calibri" panose="020F0502020204030204" pitchFamily="34" charset="0"/>
                          <a:cs typeface="Arial" panose="020B0604020202020204" pitchFamily="34" charset="0"/>
                        </a:rPr>
                        <a:t>12</a:t>
                      </a:r>
                    </a:p>
                  </a:txBody>
                  <a:tcPr marL="64091" marR="64091" marT="0" marB="0">
                    <a:lnL w="6350" cap="flat" cmpd="sng" algn="ctr">
                      <a:noFill/>
                      <a:prstDash val="solid"/>
                      <a:miter lim="800000"/>
                    </a:lnL>
                    <a:lnR w="12700" cap="flat" cmpd="sng" algn="ctr">
                      <a:noFill/>
                      <a:prstDash val="solid"/>
                      <a:miter lim="800000"/>
                    </a:lnR>
                    <a:lnT>
                      <a:noFill/>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a:lnSpc>
                          <a:spcPct val="150000"/>
                        </a:lnSpc>
                        <a:spcBef>
                          <a:spcPts val="0"/>
                        </a:spcBef>
                        <a:spcAft>
                          <a:spcPts val="0"/>
                        </a:spcAft>
                      </a:pPr>
                      <a:r>
                        <a:rPr lang="en-US" sz="2200" dirty="0">
                          <a:effectLst/>
                          <a:latin typeface="+mj-lt"/>
                          <a:ea typeface="Calibri" panose="020F0502020204030204" pitchFamily="34" charset="0"/>
                          <a:cs typeface="Arial" panose="020B0604020202020204" pitchFamily="34" charset="0"/>
                        </a:rPr>
                        <a:t>Abdi  </a:t>
                      </a:r>
                      <a:r>
                        <a:rPr lang="en-US" sz="2200" dirty="0" err="1">
                          <a:effectLst/>
                          <a:latin typeface="+mj-lt"/>
                          <a:ea typeface="Calibri" panose="020F0502020204030204" pitchFamily="34" charset="0"/>
                          <a:cs typeface="Arial" panose="020B0604020202020204" pitchFamily="34" charset="0"/>
                        </a:rPr>
                        <a:t>Risaaq</a:t>
                      </a:r>
                      <a:r>
                        <a:rPr lang="en-US" sz="2200" dirty="0">
                          <a:effectLst/>
                          <a:latin typeface="+mj-lt"/>
                          <a:ea typeface="Calibri" panose="020F0502020204030204" pitchFamily="34" charset="0"/>
                          <a:cs typeface="Arial" panose="020B0604020202020204" pitchFamily="34" charset="0"/>
                        </a:rPr>
                        <a:t> Geesey  </a:t>
                      </a:r>
                      <a:r>
                        <a:rPr lang="en-US" sz="2200" dirty="0" err="1">
                          <a:effectLst/>
                          <a:latin typeface="+mj-lt"/>
                          <a:ea typeface="Calibri" panose="020F0502020204030204" pitchFamily="34" charset="0"/>
                          <a:cs typeface="Arial" panose="020B0604020202020204" pitchFamily="34" charset="0"/>
                        </a:rPr>
                        <a:t>Cariif</a:t>
                      </a:r>
                      <a:r>
                        <a:rPr lang="en-US" sz="2200" dirty="0">
                          <a:effectLst/>
                          <a:latin typeface="+mj-lt"/>
                          <a:ea typeface="Calibri" panose="020F0502020204030204" pitchFamily="34" charset="0"/>
                          <a:cs typeface="Arial" panose="020B0604020202020204" pitchFamily="34" charset="0"/>
                        </a:rPr>
                        <a:t> </a:t>
                      </a:r>
                    </a:p>
                  </a:txBody>
                  <a:tcPr marL="64091" marR="64091" marT="0" marB="0">
                    <a:lnL w="12700" cap="flat" cmpd="sng" algn="ctr">
                      <a:noFill/>
                      <a:prstDash val="solid"/>
                      <a:miter lim="800000"/>
                    </a:lnL>
                    <a:lnR>
                      <a:noFill/>
                    </a:lnR>
                    <a:lnT>
                      <a:noFill/>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a:lnSpc>
                          <a:spcPct val="150000"/>
                        </a:lnSpc>
                        <a:spcBef>
                          <a:spcPts val="0"/>
                        </a:spcBef>
                        <a:spcAft>
                          <a:spcPts val="1000"/>
                        </a:spcAft>
                      </a:pPr>
                      <a:r>
                        <a:rPr lang="en-US" sz="2200" dirty="0">
                          <a:effectLst/>
                          <a:latin typeface="+mj-lt"/>
                          <a:ea typeface="Calibri" panose="020F0502020204030204" pitchFamily="34" charset="0"/>
                          <a:cs typeface="Arial" panose="020B0604020202020204" pitchFamily="34" charset="0"/>
                        </a:rPr>
                        <a:t>18095</a:t>
                      </a:r>
                    </a:p>
                  </a:txBody>
                  <a:tcPr marL="64091" marR="64091" marT="0" marB="0">
                    <a:lnL>
                      <a:noFill/>
                    </a:lnL>
                    <a:lnR w="6350" cap="flat" cmpd="sng" algn="ctr">
                      <a:noFill/>
                      <a:prstDash val="solid"/>
                      <a:miter lim="800000"/>
                    </a:lnR>
                    <a:lnT>
                      <a:noFill/>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985055890"/>
                  </a:ext>
                </a:extLst>
              </a:tr>
              <a:tr h="436140">
                <a:tc>
                  <a:txBody>
                    <a:bodyPr/>
                    <a:lstStyle/>
                    <a:p>
                      <a:pPr marL="0" marR="0">
                        <a:lnSpc>
                          <a:spcPct val="150000"/>
                        </a:lnSpc>
                        <a:spcBef>
                          <a:spcPts val="0"/>
                        </a:spcBef>
                        <a:spcAft>
                          <a:spcPts val="0"/>
                        </a:spcAft>
                      </a:pPr>
                      <a:r>
                        <a:rPr lang="en-US" sz="2200" dirty="0">
                          <a:effectLst/>
                          <a:latin typeface="+mj-lt"/>
                          <a:ea typeface="Calibri" panose="020F0502020204030204" pitchFamily="34" charset="0"/>
                          <a:cs typeface="Arial" panose="020B0604020202020204" pitchFamily="34" charset="0"/>
                        </a:rPr>
                        <a:t>13</a:t>
                      </a:r>
                    </a:p>
                  </a:txBody>
                  <a:tcPr marL="64091" marR="64091" marT="0" marB="0">
                    <a:lnL w="6350" cap="flat" cmpd="sng" algn="ctr">
                      <a:noFill/>
                      <a:prstDash val="solid"/>
                      <a:miter lim="800000"/>
                    </a:lnL>
                    <a:lnR w="12700" cap="flat" cmpd="sng" algn="ctr">
                      <a:noFill/>
                      <a:prstDash val="solid"/>
                      <a:miter lim="800000"/>
                    </a:lnR>
                    <a:lnT>
                      <a:noFill/>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a:lnSpc>
                          <a:spcPct val="150000"/>
                        </a:lnSpc>
                        <a:spcBef>
                          <a:spcPts val="0"/>
                        </a:spcBef>
                        <a:spcAft>
                          <a:spcPts val="0"/>
                        </a:spcAft>
                      </a:pPr>
                      <a:r>
                        <a:rPr lang="en-US" sz="2200" dirty="0">
                          <a:effectLst/>
                          <a:latin typeface="+mj-lt"/>
                          <a:ea typeface="Calibri" panose="020F0502020204030204" pitchFamily="34" charset="0"/>
                          <a:cs typeface="Arial" panose="020B0604020202020204" pitchFamily="34" charset="0"/>
                        </a:rPr>
                        <a:t>Suleiman Abdulle Mohamed</a:t>
                      </a:r>
                    </a:p>
                  </a:txBody>
                  <a:tcPr marL="64091" marR="64091" marT="0" marB="0">
                    <a:lnL w="12700" cap="flat" cmpd="sng" algn="ctr">
                      <a:noFill/>
                      <a:prstDash val="solid"/>
                      <a:miter lim="800000"/>
                    </a:lnL>
                    <a:lnR>
                      <a:noFill/>
                    </a:lnR>
                    <a:lnT>
                      <a:noFill/>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a:lnSpc>
                          <a:spcPct val="150000"/>
                        </a:lnSpc>
                        <a:spcBef>
                          <a:spcPts val="0"/>
                        </a:spcBef>
                        <a:spcAft>
                          <a:spcPts val="1000"/>
                        </a:spcAft>
                      </a:pPr>
                      <a:r>
                        <a:rPr lang="en-US" sz="2200" dirty="0">
                          <a:effectLst/>
                          <a:latin typeface="+mj-lt"/>
                          <a:ea typeface="Calibri" panose="020F0502020204030204" pitchFamily="34" charset="0"/>
                          <a:cs typeface="Arial" panose="020B0604020202020204" pitchFamily="34" charset="0"/>
                        </a:rPr>
                        <a:t>13199</a:t>
                      </a:r>
                    </a:p>
                  </a:txBody>
                  <a:tcPr marL="64091" marR="64091" marT="0" marB="0">
                    <a:lnL>
                      <a:noFill/>
                    </a:lnL>
                    <a:lnR w="6350" cap="flat" cmpd="sng" algn="ctr">
                      <a:noFill/>
                      <a:prstDash val="solid"/>
                      <a:miter lim="800000"/>
                    </a:lnR>
                    <a:lnT>
                      <a:noFill/>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1992454153"/>
                  </a:ext>
                </a:extLst>
              </a:tr>
            </a:tbl>
          </a:graphicData>
        </a:graphic>
      </p:graphicFrame>
      <p:sp>
        <p:nvSpPr>
          <p:cNvPr id="10" name="TextBox 9">
            <a:extLst>
              <a:ext uri="{FF2B5EF4-FFF2-40B4-BE49-F238E27FC236}">
                <a16:creationId xmlns:a16="http://schemas.microsoft.com/office/drawing/2014/main" id="{05EF5BAF-79FD-4E5B-8A24-105C69BC8AEC}"/>
              </a:ext>
            </a:extLst>
          </p:cNvPr>
          <p:cNvSpPr txBox="1"/>
          <p:nvPr/>
        </p:nvSpPr>
        <p:spPr>
          <a:xfrm>
            <a:off x="2073779" y="-130170"/>
            <a:ext cx="7464511" cy="523220"/>
          </a:xfrm>
          <a:prstGeom prst="rect">
            <a:avLst/>
          </a:prstGeom>
          <a:noFill/>
        </p:spPr>
        <p:txBody>
          <a:bodyPr wrap="square" rtlCol="0">
            <a:spAutoFit/>
          </a:bodyPr>
          <a:lstStyle/>
          <a:p>
            <a:r>
              <a:rPr lang="en-US" sz="2800" b="1" dirty="0">
                <a:solidFill>
                  <a:schemeClr val="bg1"/>
                </a:solidFill>
                <a:latin typeface="Georgia" pitchFamily="18" charset="0"/>
              </a:rPr>
              <a:t>NAME(S) OF STUDENTS AND ID </a:t>
            </a:r>
            <a:endParaRPr lang="en-US" sz="2800" dirty="0">
              <a:solidFill>
                <a:schemeClr val="bg1"/>
              </a:solidFill>
            </a:endParaRPr>
          </a:p>
        </p:txBody>
      </p:sp>
    </p:spTree>
    <p:extLst>
      <p:ext uri="{BB962C8B-B14F-4D97-AF65-F5344CB8AC3E}">
        <p14:creationId xmlns:p14="http://schemas.microsoft.com/office/powerpoint/2010/main" val="2902794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179B88-D43C-4A31-9A52-3498E9430782}"/>
              </a:ext>
            </a:extLst>
          </p:cNvPr>
          <p:cNvSpPr>
            <a:spLocks noGrp="1"/>
          </p:cNvSpPr>
          <p:nvPr>
            <p:ph type="title"/>
          </p:nvPr>
        </p:nvSpPr>
        <p:spPr>
          <a:xfrm>
            <a:off x="1569858" y="340823"/>
            <a:ext cx="7781544" cy="1565636"/>
          </a:xfrm>
        </p:spPr>
        <p:txBody>
          <a:bodyPr>
            <a:normAutofit fontScale="90000"/>
          </a:bodyPr>
          <a:lstStyle/>
          <a:p>
            <a:pPr algn="ctr"/>
            <a:r>
              <a:rPr lang="en-US" sz="5400" b="1" dirty="0">
                <a:latin typeface="Georgia" pitchFamily="18" charset="0"/>
              </a:rPr>
              <a:t>CHAPTER ONE</a:t>
            </a:r>
            <a:br>
              <a:rPr lang="en-US" sz="5400" b="1" dirty="0">
                <a:latin typeface="Georgia" pitchFamily="18" charset="0"/>
              </a:rPr>
            </a:br>
            <a:r>
              <a:rPr lang="en-US" sz="5400" b="1" dirty="0">
                <a:latin typeface="Georgia" pitchFamily="18" charset="0"/>
              </a:rPr>
              <a:t>INTRODUCTION</a:t>
            </a:r>
            <a:endParaRPr lang="en-US" dirty="0"/>
          </a:p>
        </p:txBody>
      </p:sp>
      <p:sp>
        <p:nvSpPr>
          <p:cNvPr id="5" name="Text Placeholder 4">
            <a:extLst>
              <a:ext uri="{FF2B5EF4-FFF2-40B4-BE49-F238E27FC236}">
                <a16:creationId xmlns:a16="http://schemas.microsoft.com/office/drawing/2014/main" id="{DCDDBE65-9AB1-4989-AF86-726591A6A128}"/>
              </a:ext>
            </a:extLst>
          </p:cNvPr>
          <p:cNvSpPr>
            <a:spLocks noGrp="1"/>
          </p:cNvSpPr>
          <p:nvPr>
            <p:ph type="body" idx="1"/>
          </p:nvPr>
        </p:nvSpPr>
        <p:spPr>
          <a:xfrm>
            <a:off x="2203450" y="2389908"/>
            <a:ext cx="6803136" cy="2909455"/>
          </a:xfrm>
        </p:spPr>
        <p:txBody>
          <a:bodyPr>
            <a:normAutofit/>
          </a:bodyPr>
          <a:lstStyle/>
          <a:p>
            <a:pPr eaLnBrk="1" hangingPunct="1">
              <a:buFont typeface="Wingdings" panose="05000000000000000000" pitchFamily="2" charset="2"/>
              <a:buChar char="v"/>
              <a:defRPr/>
            </a:pPr>
            <a:r>
              <a:rPr lang="en-US" sz="4400" dirty="0">
                <a:solidFill>
                  <a:schemeClr val="bg1"/>
                </a:solidFill>
                <a:latin typeface="+mj-lt"/>
              </a:rPr>
              <a:t>Background of study</a:t>
            </a:r>
          </a:p>
          <a:p>
            <a:pPr eaLnBrk="1" hangingPunct="1">
              <a:buFont typeface="Wingdings" panose="05000000000000000000" pitchFamily="2" charset="2"/>
              <a:buChar char="v"/>
              <a:defRPr/>
            </a:pPr>
            <a:r>
              <a:rPr lang="en-US" sz="4400" dirty="0">
                <a:solidFill>
                  <a:schemeClr val="bg1"/>
                </a:solidFill>
                <a:latin typeface="+mj-lt"/>
              </a:rPr>
              <a:t>Problem Statement</a:t>
            </a:r>
          </a:p>
          <a:p>
            <a:pPr eaLnBrk="1" hangingPunct="1">
              <a:buFont typeface="Wingdings" panose="05000000000000000000" pitchFamily="2" charset="2"/>
              <a:buChar char="v"/>
              <a:defRPr/>
            </a:pPr>
            <a:r>
              <a:rPr lang="en-US" sz="4400" dirty="0">
                <a:solidFill>
                  <a:schemeClr val="bg1"/>
                </a:solidFill>
                <a:latin typeface="+mj-lt"/>
              </a:rPr>
              <a:t>Research question</a:t>
            </a:r>
          </a:p>
          <a:p>
            <a:pPr eaLnBrk="1" hangingPunct="1">
              <a:buFont typeface="Wingdings" panose="05000000000000000000" pitchFamily="2" charset="2"/>
              <a:buChar char="v"/>
              <a:defRPr/>
            </a:pPr>
            <a:r>
              <a:rPr lang="en-US" sz="4400" dirty="0">
                <a:solidFill>
                  <a:schemeClr val="bg1"/>
                </a:solidFill>
                <a:latin typeface="+mj-lt"/>
              </a:rPr>
              <a:t>Scope of project</a:t>
            </a:r>
          </a:p>
        </p:txBody>
      </p:sp>
      <p:sp>
        <p:nvSpPr>
          <p:cNvPr id="2" name="Slide Number Placeholder 1">
            <a:extLst>
              <a:ext uri="{FF2B5EF4-FFF2-40B4-BE49-F238E27FC236}">
                <a16:creationId xmlns:a16="http://schemas.microsoft.com/office/drawing/2014/main" id="{8B065C75-272B-4BB5-BA23-D80E8654D621}"/>
              </a:ext>
            </a:extLst>
          </p:cNvPr>
          <p:cNvSpPr>
            <a:spLocks noGrp="1"/>
          </p:cNvSpPr>
          <p:nvPr>
            <p:ph type="sldNum" sz="quarter" idx="12"/>
          </p:nvPr>
        </p:nvSpPr>
        <p:spPr/>
        <p:txBody>
          <a:bodyPr/>
          <a:lstStyle/>
          <a:p>
            <a:fld id="{C263D6C4-4840-40CC-AC84-17E24B3B7BDE}" type="slidenum">
              <a:rPr lang="en-US" smtClean="0"/>
              <a:pPr/>
              <a:t>3</a:t>
            </a:fld>
            <a:endParaRPr lang="en-US" dirty="0"/>
          </a:p>
        </p:txBody>
      </p:sp>
    </p:spTree>
    <p:extLst>
      <p:ext uri="{BB962C8B-B14F-4D97-AF65-F5344CB8AC3E}">
        <p14:creationId xmlns:p14="http://schemas.microsoft.com/office/powerpoint/2010/main" val="709828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a:xfrm>
            <a:off x="977900" y="603841"/>
            <a:ext cx="11214100" cy="646331"/>
          </a:xfrm>
        </p:spPr>
        <p:txBody>
          <a:bodyPr/>
          <a:lstStyle/>
          <a:p>
            <a:r>
              <a:rPr lang="en-US" sz="4000" b="1" dirty="0">
                <a:effectLst/>
                <a:latin typeface="Times New Roman" panose="02020603050405020304" pitchFamily="18" charset="0"/>
                <a:ea typeface="Calibri" panose="020F0502020204030204" pitchFamily="34" charset="0"/>
              </a:rPr>
              <a:t>BACKGROUND OF STUDY </a:t>
            </a:r>
            <a:endParaRPr lang="en-US" sz="6600" dirty="0"/>
          </a:p>
        </p:txBody>
      </p:sp>
      <p:sp>
        <p:nvSpPr>
          <p:cNvPr id="10" name="Text Placeholder 9">
            <a:extLst>
              <a:ext uri="{FF2B5EF4-FFF2-40B4-BE49-F238E27FC236}">
                <a16:creationId xmlns:a16="http://schemas.microsoft.com/office/drawing/2014/main" id="{EF2BC084-E6DB-4DE7-B309-042A85EBA700}"/>
              </a:ext>
            </a:extLst>
          </p:cNvPr>
          <p:cNvSpPr>
            <a:spLocks noGrp="1"/>
          </p:cNvSpPr>
          <p:nvPr>
            <p:ph type="body" sz="quarter" idx="13"/>
          </p:nvPr>
        </p:nvSpPr>
        <p:spPr>
          <a:xfrm>
            <a:off x="444500" y="1625386"/>
            <a:ext cx="9894455" cy="3254112"/>
          </a:xfrm>
        </p:spPr>
        <p:txBody>
          <a:bodyPr/>
          <a:lstStyle/>
          <a:p>
            <a:pPr algn="just">
              <a:lnSpc>
                <a:spcPct val="150000"/>
              </a:lnSpc>
              <a:spcAft>
                <a:spcPts val="800"/>
              </a:spcAft>
              <a:buFont typeface="Wingdings" panose="05000000000000000000" pitchFamily="2" charset="2"/>
              <a:buNone/>
            </a:pPr>
            <a:r>
              <a:rPr lang="en-US" sz="2000" dirty="0"/>
              <a:t>     </a:t>
            </a:r>
            <a:r>
              <a:rPr lang="en-US" sz="2000" dirty="0" err="1"/>
              <a:t>Yongchang</a:t>
            </a:r>
            <a:r>
              <a:rPr lang="en-US" sz="2000" dirty="0"/>
              <a:t> and Mengyao (2015) argue that computer technology has become essential across industries, especially with internet growth. Small and medium supermarkets lag behind in informatization, showing a need for efficient digital systems. A supermarket management system automates operations like sales, stock, staff, and billing. It reduces manual work, saves time, and allows better monitoring. Customers can easily purchase and get bills, and the system notifies when to reorder. Admins assign login credentials to staff for daily tasks.</a:t>
            </a:r>
            <a:endParaRPr kumimoji="0" lang="en-US" altLang="en-US" sz="18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4</a:t>
            </a:fld>
            <a:endParaRPr lang="en-US" dirty="0"/>
          </a:p>
        </p:txBody>
      </p:sp>
    </p:spTree>
    <p:extLst>
      <p:ext uri="{BB962C8B-B14F-4D97-AF65-F5344CB8AC3E}">
        <p14:creationId xmlns:p14="http://schemas.microsoft.com/office/powerpoint/2010/main" val="3733486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a:xfrm>
            <a:off x="444500" y="542925"/>
            <a:ext cx="11214100" cy="646331"/>
          </a:xfrm>
        </p:spPr>
        <p:txBody>
          <a:bodyPr/>
          <a:lstStyle/>
          <a:p>
            <a:r>
              <a:rPr kumimoji="1" lang="en-US" sz="4000" b="1" dirty="0">
                <a:latin typeface="Times New Roman" panose="02020603050405020304" pitchFamily="18" charset="0"/>
                <a:ea typeface="Gulim" panose="020B0600000101010101" pitchFamily="34" charset="-127"/>
                <a:cs typeface="Times New Roman" panose="02020603050405020304" pitchFamily="18" charset="0"/>
              </a:rPr>
              <a:t>PROBLEM STATEMENT</a:t>
            </a:r>
            <a:endParaRPr lang="en-US" sz="6000"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520FC4EE-F318-4344-9E3C-B950ADB63865}"/>
              </a:ext>
            </a:extLst>
          </p:cNvPr>
          <p:cNvSpPr>
            <a:spLocks noGrp="1"/>
          </p:cNvSpPr>
          <p:nvPr>
            <p:ph type="sldNum" sz="quarter" idx="12"/>
          </p:nvPr>
        </p:nvSpPr>
        <p:spPr/>
        <p:txBody>
          <a:bodyPr/>
          <a:lstStyle/>
          <a:p>
            <a:fld id="{C263D6C4-4840-40CC-AC84-17E24B3B7BDE}" type="slidenum">
              <a:rPr lang="en-US" smtClean="0"/>
              <a:pPr/>
              <a:t>5</a:t>
            </a:fld>
            <a:endParaRPr lang="en-US" dirty="0"/>
          </a:p>
        </p:txBody>
      </p:sp>
      <p:sp>
        <p:nvSpPr>
          <p:cNvPr id="8" name="Text Placeholder 7">
            <a:extLst>
              <a:ext uri="{FF2B5EF4-FFF2-40B4-BE49-F238E27FC236}">
                <a16:creationId xmlns:a16="http://schemas.microsoft.com/office/drawing/2014/main" id="{47DC4E62-1A34-4F98-A451-214F1808519C}"/>
              </a:ext>
            </a:extLst>
          </p:cNvPr>
          <p:cNvSpPr>
            <a:spLocks noGrp="1"/>
          </p:cNvSpPr>
          <p:nvPr>
            <p:ph type="body" sz="quarter" idx="2"/>
          </p:nvPr>
        </p:nvSpPr>
        <p:spPr>
          <a:xfrm>
            <a:off x="444500" y="1517074"/>
            <a:ext cx="11463482" cy="4925290"/>
          </a:xfrm>
        </p:spPr>
        <p:txBody>
          <a:bodyPr>
            <a:normAutofit/>
          </a:bodyPr>
          <a:lstStyle/>
          <a:p>
            <a:pPr marL="228600" marR="226060" algn="just">
              <a:lnSpc>
                <a:spcPct val="150000"/>
              </a:lnSpc>
              <a:spcBef>
                <a:spcPts val="5"/>
              </a:spcBef>
            </a:pPr>
            <a:r>
              <a:rPr lang="en-US" sz="1800" dirty="0">
                <a:effectLst/>
                <a:latin typeface="Times New Roman" panose="02020603050405020304" pitchFamily="18" charset="0"/>
                <a:ea typeface="Times New Roman" panose="02020603050405020304" pitchFamily="18" charset="0"/>
              </a:rPr>
              <a:t>Manual management of the supermarket encounter countless problem which varies from time consumption, poor communication, problem of physical count, daily purchase problem and ordering of supplies. Manual management of a supermarket slow down the updating of daily activities, also it can cause a misunderstanding in a supermarket operation process i.e., poor communication.</a:t>
            </a:r>
            <a:r>
              <a:rPr lang="en-US" sz="1800" spc="-3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a:t>
            </a:r>
            <a:r>
              <a:rPr lang="en-US" sz="1800" spc="-3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use</a:t>
            </a:r>
            <a:r>
              <a:rPr lang="en-US" sz="1800" spc="-2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of</a:t>
            </a:r>
            <a:r>
              <a:rPr lang="en-US" sz="1800" spc="-3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manual</a:t>
            </a:r>
            <a:r>
              <a:rPr lang="en-US" sz="1800" spc="-3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management</a:t>
            </a:r>
            <a:r>
              <a:rPr lang="en-US" sz="1800" spc="-3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system</a:t>
            </a:r>
            <a:r>
              <a:rPr lang="en-US" sz="1800" spc="-3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will</a:t>
            </a:r>
            <a:r>
              <a:rPr lang="en-US" sz="1800" spc="-3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always</a:t>
            </a:r>
            <a:r>
              <a:rPr lang="en-US" sz="1800" spc="-3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require</a:t>
            </a:r>
            <a:r>
              <a:rPr lang="en-US" sz="1800" spc="-3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either</a:t>
            </a:r>
            <a:r>
              <a:rPr lang="en-US" sz="1800" spc="-3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a:t>
            </a:r>
            <a:r>
              <a:rPr lang="en-US" sz="1800" spc="-3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presence</a:t>
            </a:r>
            <a:r>
              <a:rPr lang="en-US" sz="1800" spc="-3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either the supermarket owner or the employee to carry out stock taking which is always time consuming, operating with manual management system may cause an injury for the supermarket if transaction record is lost or misinterpret.</a:t>
            </a:r>
          </a:p>
        </p:txBody>
      </p:sp>
    </p:spTree>
    <p:extLst>
      <p:ext uri="{BB962C8B-B14F-4D97-AF65-F5344CB8AC3E}">
        <p14:creationId xmlns:p14="http://schemas.microsoft.com/office/powerpoint/2010/main" val="360727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a:xfrm>
            <a:off x="444500" y="542925"/>
            <a:ext cx="11214100" cy="701731"/>
          </a:xfrm>
        </p:spPr>
        <p:txBody>
          <a:bodyPr/>
          <a:lstStyle/>
          <a:p>
            <a:r>
              <a:rPr lang="en-US" sz="4400" b="1" dirty="0"/>
              <a:t>RESEARCH QUESTION</a:t>
            </a:r>
            <a:endParaRPr lang="en-US" sz="4400" dirty="0"/>
          </a:p>
        </p:txBody>
      </p:sp>
      <p:sp>
        <p:nvSpPr>
          <p:cNvPr id="2" name="Slide Number Placeholder 1">
            <a:extLst>
              <a:ext uri="{FF2B5EF4-FFF2-40B4-BE49-F238E27FC236}">
                <a16:creationId xmlns:a16="http://schemas.microsoft.com/office/drawing/2014/main" id="{CC1F11E7-EDE5-4119-BA64-4FC57C285D19}"/>
              </a:ext>
            </a:extLst>
          </p:cNvPr>
          <p:cNvSpPr>
            <a:spLocks noGrp="1"/>
          </p:cNvSpPr>
          <p:nvPr>
            <p:ph type="sldNum" sz="quarter" idx="12"/>
          </p:nvPr>
        </p:nvSpPr>
        <p:spPr/>
        <p:txBody>
          <a:bodyPr/>
          <a:lstStyle/>
          <a:p>
            <a:fld id="{C263D6C4-4840-40CC-AC84-17E24B3B7BDE}" type="slidenum">
              <a:rPr lang="en-US" smtClean="0"/>
              <a:pPr/>
              <a:t>6</a:t>
            </a:fld>
            <a:endParaRPr lang="en-US" dirty="0"/>
          </a:p>
        </p:txBody>
      </p:sp>
      <p:sp>
        <p:nvSpPr>
          <p:cNvPr id="15" name="Text Placeholder 14">
            <a:extLst>
              <a:ext uri="{FF2B5EF4-FFF2-40B4-BE49-F238E27FC236}">
                <a16:creationId xmlns:a16="http://schemas.microsoft.com/office/drawing/2014/main" id="{F7B5CA1B-027F-4118-A497-ACAA5AEA2A30}"/>
              </a:ext>
            </a:extLst>
          </p:cNvPr>
          <p:cNvSpPr>
            <a:spLocks noGrp="1"/>
          </p:cNvSpPr>
          <p:nvPr>
            <p:ph type="body" sz="quarter" idx="18"/>
          </p:nvPr>
        </p:nvSpPr>
        <p:spPr>
          <a:xfrm>
            <a:off x="641926" y="2169102"/>
            <a:ext cx="11359573" cy="3119871"/>
          </a:xfrm>
          <a:solidFill>
            <a:srgbClr val="003352"/>
          </a:solidFill>
        </p:spPr>
        <p:txBody>
          <a:bodyPr/>
          <a:lstStyle/>
          <a:p>
            <a:pPr marL="0" marR="0" algn="l">
              <a:lnSpc>
                <a:spcPct val="150000"/>
              </a:lnSpc>
              <a:spcAft>
                <a:spcPts val="800"/>
              </a:spcAft>
              <a:buNone/>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Here are clear research questions for a Supermarket Management System thesis: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l">
              <a:lnSpc>
                <a:spcPct val="150000"/>
              </a:lnSpc>
              <a:spcAft>
                <a:spcPts val="800"/>
              </a:spcAft>
              <a:buFont typeface="+mj-lt"/>
              <a:buAutoNum type="arabicPeriod"/>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How can a supermarket management system improve the efficiency of inventory tracking and management?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l">
              <a:lnSpc>
                <a:spcPct val="150000"/>
              </a:lnSpc>
              <a:spcAft>
                <a:spcPts val="800"/>
              </a:spcAft>
              <a:buFont typeface="+mj-lt"/>
              <a:buAutoNum type="arabicPeriod"/>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What are the key functionalities required in a supermarket management system to streamline sales and billing processes?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l">
              <a:lnSpc>
                <a:spcPct val="150000"/>
              </a:lnSpc>
              <a:spcAft>
                <a:spcPts val="800"/>
              </a:spcAft>
              <a:buFont typeface="+mj-lt"/>
              <a:buAutoNum type="arabicPeriod"/>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How can customer data management in a supermarket system enhance customer satisfaction and loyalty?</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l">
              <a:lnSpc>
                <a:spcPct val="150000"/>
              </a:lnSpc>
              <a:spcAft>
                <a:spcPts val="800"/>
              </a:spcAft>
              <a:buFont typeface="+mj-lt"/>
              <a:buAutoNum type="arabicPeriod"/>
              <a:tabLst>
                <a:tab pos="457200" algn="l"/>
              </a:tabLs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What role does a supermarket management system play in optimizing supplier and stock management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l">
              <a:buNone/>
            </a:pPr>
            <a:br>
              <a:rPr lang="en-US" sz="1800" dirty="0">
                <a:effectLst/>
                <a:latin typeface="Times New Roman" panose="02020603050405020304" pitchFamily="18" charset="0"/>
                <a:ea typeface="Calibri" panose="020F0502020204030204" pitchFamily="34" charset="0"/>
              </a:rPr>
            </a:br>
            <a:endParaRPr kumimoji="0" lang="en-US"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92131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a:xfrm>
            <a:off x="444500" y="542925"/>
            <a:ext cx="11214100" cy="840230"/>
          </a:xfrm>
        </p:spPr>
        <p:txBody>
          <a:bodyPr/>
          <a:lstStyle/>
          <a:p>
            <a:r>
              <a:rPr lang="en-US" sz="5400" b="1" dirty="0">
                <a:latin typeface="Times New Roman" panose="02020603050405020304" pitchFamily="18" charset="0"/>
                <a:cs typeface="Times New Roman" panose="02020603050405020304" pitchFamily="18" charset="0"/>
              </a:rPr>
              <a:t>SCOPE OF PROJECT</a:t>
            </a:r>
            <a:endParaRPr lang="en-US" sz="5400" dirty="0">
              <a:latin typeface="Times New Roman" panose="02020603050405020304" pitchFamily="18" charset="0"/>
              <a:cs typeface="Times New Roman" panose="02020603050405020304" pitchFamily="18" charset="0"/>
            </a:endParaRPr>
          </a:p>
        </p:txBody>
      </p:sp>
      <p:sp>
        <p:nvSpPr>
          <p:cNvPr id="21" name="Text Placeholder 20">
            <a:extLst>
              <a:ext uri="{FF2B5EF4-FFF2-40B4-BE49-F238E27FC236}">
                <a16:creationId xmlns:a16="http://schemas.microsoft.com/office/drawing/2014/main" id="{1B8F0371-4F69-4131-91BF-9AB99E6EE89B}"/>
              </a:ext>
            </a:extLst>
          </p:cNvPr>
          <p:cNvSpPr>
            <a:spLocks noGrp="1"/>
          </p:cNvSpPr>
          <p:nvPr>
            <p:ph type="body" sz="quarter" idx="20"/>
          </p:nvPr>
        </p:nvSpPr>
        <p:spPr>
          <a:xfrm>
            <a:off x="301336" y="1828800"/>
            <a:ext cx="11679382" cy="3874333"/>
          </a:xfrm>
        </p:spPr>
        <p:txBody>
          <a:bodyPr/>
          <a:lstStyle/>
          <a:p>
            <a:pPr marL="0" marR="0">
              <a:lnSpc>
                <a:spcPct val="150000"/>
              </a:lnSpc>
              <a:spcBef>
                <a:spcPts val="1200"/>
              </a:spcBef>
              <a:buNone/>
            </a:pPr>
            <a:r>
              <a:rPr lang="en-US" sz="1800" dirty="0">
                <a:effectLst/>
                <a:latin typeface="Times New Roman" panose="02020603050405020304" pitchFamily="18" charset="0"/>
                <a:ea typeface="Times New Roman" panose="02020603050405020304" pitchFamily="18" charset="0"/>
              </a:rPr>
              <a:t>The scope of the project is to develop online Supermarket management system which will service the client.</a:t>
            </a:r>
          </a:p>
          <a:p>
            <a:pPr marL="0" marR="0">
              <a:lnSpc>
                <a:spcPct val="150000"/>
              </a:lnSpc>
              <a:spcBef>
                <a:spcPts val="1200"/>
              </a:spcBef>
              <a:buNone/>
            </a:pPr>
            <a:r>
              <a:rPr lang="en-US" sz="1800" dirty="0">
                <a:effectLst/>
                <a:latin typeface="Times New Roman" panose="02020603050405020304" pitchFamily="18" charset="0"/>
                <a:ea typeface="Times New Roman" panose="02020603050405020304" pitchFamily="18" charset="0"/>
              </a:rPr>
              <a:t>There are three types of dimension scope which mentioned below</a:t>
            </a:r>
          </a:p>
          <a:p>
            <a:pPr marL="0" marR="0">
              <a:lnSpc>
                <a:spcPct val="150000"/>
              </a:lnSpc>
              <a:spcBef>
                <a:spcPts val="1200"/>
              </a:spcBef>
              <a:buNone/>
            </a:pPr>
            <a:r>
              <a:rPr lang="en-US" sz="1800" dirty="0">
                <a:effectLst/>
                <a:latin typeface="Times New Roman" panose="02020603050405020304" pitchFamily="18" charset="0"/>
                <a:ea typeface="Times New Roman" panose="02020603050405020304" pitchFamily="18" charset="0"/>
              </a:rPr>
              <a:t>1. Time scope of project should be Aprill 30th  up to May 20-30</a:t>
            </a:r>
            <a:r>
              <a:rPr lang="en-US" sz="1800" baseline="30000" dirty="0">
                <a:effectLst/>
                <a:latin typeface="Times New Roman" panose="02020603050405020304" pitchFamily="18" charset="0"/>
                <a:ea typeface="Times New Roman" panose="02020603050405020304" pitchFamily="18" charset="0"/>
              </a:rPr>
              <a:t>th</a:t>
            </a:r>
            <a:r>
              <a:rPr lang="en-US" sz="1800" dirty="0">
                <a:effectLst/>
                <a:latin typeface="Times New Roman" panose="02020603050405020304" pitchFamily="18" charset="0"/>
                <a:ea typeface="Times New Roman" panose="02020603050405020304" pitchFamily="18" charset="0"/>
              </a:rPr>
              <a:t>  2024</a:t>
            </a:r>
          </a:p>
          <a:p>
            <a:pPr marL="0" marR="0">
              <a:lnSpc>
                <a:spcPct val="150000"/>
              </a:lnSpc>
              <a:spcBef>
                <a:spcPts val="1200"/>
              </a:spcBef>
              <a:buNone/>
            </a:pPr>
            <a:r>
              <a:rPr lang="en-US" sz="1800" dirty="0">
                <a:effectLst/>
                <a:latin typeface="Times New Roman" panose="02020603050405020304" pitchFamily="18" charset="0"/>
                <a:ea typeface="Times New Roman" panose="02020603050405020304" pitchFamily="18" charset="0"/>
              </a:rPr>
              <a:t>2. Geography scope will be Hodan district, is one main district at Banadir region</a:t>
            </a:r>
          </a:p>
          <a:p>
            <a:pPr marL="0" marR="0">
              <a:lnSpc>
                <a:spcPct val="150000"/>
              </a:lnSpc>
              <a:spcBef>
                <a:spcPts val="1200"/>
              </a:spcBef>
              <a:buNone/>
            </a:pPr>
            <a:r>
              <a:rPr lang="en-US" sz="1800" dirty="0">
                <a:effectLst/>
                <a:latin typeface="Times New Roman" panose="02020603050405020304" pitchFamily="18" charset="0"/>
                <a:ea typeface="Times New Roman" panose="02020603050405020304" pitchFamily="18" charset="0"/>
              </a:rPr>
              <a:t>3. Content of scope. The content scope will be Supermarket management system</a:t>
            </a:r>
          </a:p>
          <a:p>
            <a:pPr marL="0" marR="0">
              <a:lnSpc>
                <a:spcPct val="150000"/>
              </a:lnSpc>
              <a:spcBef>
                <a:spcPts val="1200"/>
              </a:spcBef>
            </a:pPr>
            <a:r>
              <a:rPr lang="en-US" sz="1800" dirty="0">
                <a:effectLst/>
                <a:latin typeface="Times New Roman" panose="02020603050405020304" pitchFamily="18" charset="0"/>
                <a:ea typeface="Times New Roman" panose="02020603050405020304" pitchFamily="18" charset="0"/>
              </a:rPr>
              <a:t>is to design and develop by using PHP as front end and MySQL (</a:t>
            </a:r>
            <a:r>
              <a:rPr lang="en-US" sz="1800" dirty="0" err="1">
                <a:effectLst/>
                <a:latin typeface="Times New Roman" panose="02020603050405020304" pitchFamily="18" charset="0"/>
                <a:ea typeface="Times New Roman" panose="02020603050405020304" pitchFamily="18" charset="0"/>
              </a:rPr>
              <a:t>xampp</a:t>
            </a:r>
            <a:r>
              <a:rPr lang="en-US" sz="1800" dirty="0">
                <a:effectLst/>
                <a:latin typeface="Times New Roman" panose="02020603050405020304" pitchFamily="18" charset="0"/>
                <a:ea typeface="Times New Roman" panose="02020603050405020304" pitchFamily="18" charset="0"/>
              </a:rPr>
              <a:t>) as back end</a:t>
            </a:r>
          </a:p>
        </p:txBody>
      </p:sp>
      <p:sp>
        <p:nvSpPr>
          <p:cNvPr id="2" name="Slide Number Placeholder 1">
            <a:extLst>
              <a:ext uri="{FF2B5EF4-FFF2-40B4-BE49-F238E27FC236}">
                <a16:creationId xmlns:a16="http://schemas.microsoft.com/office/drawing/2014/main" id="{2F478C69-0A1D-45FF-8600-ED903803FFE1}"/>
              </a:ext>
            </a:extLst>
          </p:cNvPr>
          <p:cNvSpPr>
            <a:spLocks noGrp="1"/>
          </p:cNvSpPr>
          <p:nvPr>
            <p:ph type="sldNum" sz="quarter" idx="12"/>
          </p:nvPr>
        </p:nvSpPr>
        <p:spPr/>
        <p:txBody>
          <a:bodyPr/>
          <a:lstStyle/>
          <a:p>
            <a:fld id="{C263D6C4-4840-40CC-AC84-17E24B3B7BDE}" type="slidenum">
              <a:rPr lang="en-US" smtClean="0"/>
              <a:pPr/>
              <a:t>7</a:t>
            </a:fld>
            <a:endParaRPr lang="en-US" dirty="0"/>
          </a:p>
        </p:txBody>
      </p:sp>
    </p:spTree>
    <p:extLst>
      <p:ext uri="{BB962C8B-B14F-4D97-AF65-F5344CB8AC3E}">
        <p14:creationId xmlns:p14="http://schemas.microsoft.com/office/powerpoint/2010/main" val="451187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a:xfrm>
            <a:off x="444500" y="542925"/>
            <a:ext cx="11214100" cy="978729"/>
          </a:xfrm>
        </p:spPr>
        <p:txBody>
          <a:bodyPr/>
          <a:lstStyle/>
          <a:p>
            <a:pPr algn="ctr"/>
            <a:r>
              <a:rPr kumimoji="0" lang="en-US" altLang="en-US" sz="3200" b="1" dirty="0">
                <a:effectLst/>
                <a:latin typeface="Georgia" panose="02040502050405020303" pitchFamily="18" charset="0"/>
                <a:cs typeface="Arial" panose="020B0604020202020204" pitchFamily="34" charset="0"/>
              </a:rPr>
              <a:t>CHAPTER TWO </a:t>
            </a:r>
            <a:br>
              <a:rPr kumimoji="0" lang="en-US" altLang="en-US" sz="3200" b="1" dirty="0">
                <a:effectLst/>
                <a:latin typeface="Georgia" panose="02040502050405020303" pitchFamily="18" charset="0"/>
                <a:cs typeface="Arial" panose="020B0604020202020204" pitchFamily="34" charset="0"/>
              </a:rPr>
            </a:br>
            <a:r>
              <a:rPr kumimoji="0" lang="en-US" altLang="en-US" sz="3200" b="1" dirty="0">
                <a:effectLst/>
                <a:latin typeface="Georgia" panose="02040502050405020303" pitchFamily="18" charset="0"/>
                <a:cs typeface="Arial" panose="020B0604020202020204" pitchFamily="34" charset="0"/>
              </a:rPr>
              <a:t>LITEATURE REVIEW</a:t>
            </a:r>
            <a:endParaRPr lang="en-US" dirty="0"/>
          </a:p>
        </p:txBody>
      </p:sp>
      <p:sp>
        <p:nvSpPr>
          <p:cNvPr id="19" name="Text Placeholder 18">
            <a:extLst>
              <a:ext uri="{FF2B5EF4-FFF2-40B4-BE49-F238E27FC236}">
                <a16:creationId xmlns:a16="http://schemas.microsoft.com/office/drawing/2014/main" id="{782206B1-586F-4254-9B36-D06C4E294ACF}"/>
              </a:ext>
            </a:extLst>
          </p:cNvPr>
          <p:cNvSpPr>
            <a:spLocks noGrp="1"/>
          </p:cNvSpPr>
          <p:nvPr>
            <p:ph type="body" sz="quarter" idx="18"/>
          </p:nvPr>
        </p:nvSpPr>
        <p:spPr>
          <a:xfrm>
            <a:off x="542094" y="2389909"/>
            <a:ext cx="9402006" cy="3313224"/>
          </a:xfrm>
        </p:spPr>
        <p:txBody>
          <a:bodyPr/>
          <a:lstStyle/>
          <a:p>
            <a:pPr algn="just" eaLnBrk="1" hangingPunct="1">
              <a:lnSpc>
                <a:spcPct val="90000"/>
              </a:lnSpc>
              <a:buFont typeface="Wingdings" panose="05000000000000000000" pitchFamily="2" charset="2"/>
              <a:buChar char="v"/>
            </a:pPr>
            <a:r>
              <a:rPr lang="en-US" altLang="en-US" sz="4800" dirty="0">
                <a:latin typeface="Times New Roman" panose="02020603050405020304" pitchFamily="18" charset="0"/>
              </a:rPr>
              <a:t>Concept of the project </a:t>
            </a:r>
          </a:p>
          <a:p>
            <a:pPr algn="just" eaLnBrk="1" hangingPunct="1">
              <a:lnSpc>
                <a:spcPct val="90000"/>
              </a:lnSpc>
              <a:buFont typeface="Wingdings" panose="05000000000000000000" pitchFamily="2" charset="2"/>
              <a:buChar char="v"/>
            </a:pPr>
            <a:r>
              <a:rPr lang="en-US" altLang="en-US" sz="4800" dirty="0">
                <a:latin typeface="Times New Roman" panose="02020603050405020304" pitchFamily="18" charset="0"/>
              </a:rPr>
              <a:t>Existing system</a:t>
            </a:r>
          </a:p>
        </p:txBody>
      </p:sp>
      <p:sp>
        <p:nvSpPr>
          <p:cNvPr id="2" name="Slide Number Placeholder 1">
            <a:extLst>
              <a:ext uri="{FF2B5EF4-FFF2-40B4-BE49-F238E27FC236}">
                <a16:creationId xmlns:a16="http://schemas.microsoft.com/office/drawing/2014/main" id="{FAC2D367-2A6E-41FE-A9EA-24FF17BCAA97}"/>
              </a:ext>
            </a:extLst>
          </p:cNvPr>
          <p:cNvSpPr>
            <a:spLocks noGrp="1"/>
          </p:cNvSpPr>
          <p:nvPr>
            <p:ph type="sldNum" sz="quarter" idx="12"/>
          </p:nvPr>
        </p:nvSpPr>
        <p:spPr/>
        <p:txBody>
          <a:bodyPr/>
          <a:lstStyle/>
          <a:p>
            <a:fld id="{C263D6C4-4840-40CC-AC84-17E24B3B7BDE}" type="slidenum">
              <a:rPr lang="en-US" smtClean="0"/>
              <a:pPr/>
              <a:t>8</a:t>
            </a:fld>
            <a:endParaRPr lang="en-US" dirty="0"/>
          </a:p>
        </p:txBody>
      </p:sp>
    </p:spTree>
    <p:extLst>
      <p:ext uri="{BB962C8B-B14F-4D97-AF65-F5344CB8AC3E}">
        <p14:creationId xmlns:p14="http://schemas.microsoft.com/office/powerpoint/2010/main" val="663103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01323FB-427E-4A8D-B473-AB0657D8D23B}"/>
              </a:ext>
            </a:extLst>
          </p:cNvPr>
          <p:cNvSpPr>
            <a:spLocks noGrp="1"/>
          </p:cNvSpPr>
          <p:nvPr>
            <p:ph type="title"/>
          </p:nvPr>
        </p:nvSpPr>
        <p:spPr>
          <a:xfrm>
            <a:off x="444500" y="542925"/>
            <a:ext cx="11214100" cy="535531"/>
          </a:xfrm>
        </p:spPr>
        <p:txBody>
          <a:bodyPr/>
          <a:lstStyle/>
          <a:p>
            <a:r>
              <a:rPr lang="en-US" b="1" dirty="0">
                <a:effectLst/>
                <a:latin typeface="Times New Roman" panose="02020603050405020304" pitchFamily="18" charset="0"/>
                <a:ea typeface="Calibri" panose="020F0502020204030204" pitchFamily="34" charset="0"/>
              </a:rPr>
              <a:t>CONCEPTS OF BLOOD BANK MANAGEMENT SYSTEM</a:t>
            </a:r>
            <a:endParaRPr lang="en-US" sz="8000" dirty="0"/>
          </a:p>
        </p:txBody>
      </p:sp>
      <p:sp>
        <p:nvSpPr>
          <p:cNvPr id="2" name="Slide Number Placeholder 1">
            <a:extLst>
              <a:ext uri="{FF2B5EF4-FFF2-40B4-BE49-F238E27FC236}">
                <a16:creationId xmlns:a16="http://schemas.microsoft.com/office/drawing/2014/main" id="{E4398C1C-6656-4A73-A680-62A81CDC27FD}"/>
              </a:ext>
            </a:extLst>
          </p:cNvPr>
          <p:cNvSpPr>
            <a:spLocks noGrp="1"/>
          </p:cNvSpPr>
          <p:nvPr>
            <p:ph type="sldNum" sz="quarter" idx="12"/>
          </p:nvPr>
        </p:nvSpPr>
        <p:spPr/>
        <p:txBody>
          <a:bodyPr/>
          <a:lstStyle/>
          <a:p>
            <a:fld id="{C263D6C4-4840-40CC-AC84-17E24B3B7BDE}" type="slidenum">
              <a:rPr lang="en-US" smtClean="0"/>
              <a:pPr/>
              <a:t>9</a:t>
            </a:fld>
            <a:endParaRPr lang="en-US" dirty="0"/>
          </a:p>
        </p:txBody>
      </p:sp>
      <p:sp>
        <p:nvSpPr>
          <p:cNvPr id="3" name="TextBox 2">
            <a:extLst>
              <a:ext uri="{FF2B5EF4-FFF2-40B4-BE49-F238E27FC236}">
                <a16:creationId xmlns:a16="http://schemas.microsoft.com/office/drawing/2014/main" id="{6F616227-D006-4D6F-9D8C-50510CE1B4D2}"/>
              </a:ext>
            </a:extLst>
          </p:cNvPr>
          <p:cNvSpPr txBox="1"/>
          <p:nvPr/>
        </p:nvSpPr>
        <p:spPr>
          <a:xfrm>
            <a:off x="265176" y="1228130"/>
            <a:ext cx="11926824" cy="6129307"/>
          </a:xfrm>
          <a:prstGeom prst="rect">
            <a:avLst/>
          </a:prstGeom>
          <a:noFill/>
        </p:spPr>
        <p:txBody>
          <a:bodyPr wrap="square" rtlCol="0">
            <a:spAutoFit/>
          </a:bodyPr>
          <a:lstStyle/>
          <a:p>
            <a:pPr marL="228600" marR="224155" algn="just">
              <a:lnSpc>
                <a:spcPct val="150000"/>
              </a:lnSpc>
              <a:spcBef>
                <a:spcPts val="395"/>
              </a:spcBef>
            </a:pPr>
            <a:r>
              <a:rPr lang="en-US" sz="1800" dirty="0">
                <a:solidFill>
                  <a:schemeClr val="bg1"/>
                </a:solidFill>
                <a:effectLst/>
                <a:latin typeface="RoMA"/>
                <a:ea typeface="Times New Roman" panose="02020603050405020304" pitchFamily="18" charset="0"/>
              </a:rPr>
              <a:t>Supermarket</a:t>
            </a:r>
            <a:r>
              <a:rPr lang="en-US" sz="1800" spc="-55" dirty="0">
                <a:solidFill>
                  <a:schemeClr val="bg1"/>
                </a:solidFill>
                <a:effectLst/>
                <a:latin typeface="RoMA"/>
                <a:ea typeface="Times New Roman" panose="02020603050405020304" pitchFamily="18" charset="0"/>
              </a:rPr>
              <a:t> </a:t>
            </a:r>
            <a:r>
              <a:rPr lang="en-US" sz="1800" dirty="0">
                <a:solidFill>
                  <a:schemeClr val="bg1"/>
                </a:solidFill>
                <a:effectLst/>
                <a:latin typeface="RoMA"/>
                <a:ea typeface="Times New Roman" panose="02020603050405020304" pitchFamily="18" charset="0"/>
              </a:rPr>
              <a:t>is</a:t>
            </a:r>
            <a:r>
              <a:rPr lang="en-US" sz="1800" spc="-60" dirty="0">
                <a:solidFill>
                  <a:schemeClr val="bg1"/>
                </a:solidFill>
                <a:effectLst/>
                <a:latin typeface="RoMA"/>
                <a:ea typeface="Times New Roman" panose="02020603050405020304" pitchFamily="18" charset="0"/>
              </a:rPr>
              <a:t> </a:t>
            </a:r>
            <a:r>
              <a:rPr lang="en-US" sz="1800" dirty="0">
                <a:solidFill>
                  <a:schemeClr val="bg1"/>
                </a:solidFill>
                <a:effectLst/>
                <a:latin typeface="RoMA"/>
                <a:ea typeface="Times New Roman" panose="02020603050405020304" pitchFamily="18" charset="0"/>
              </a:rPr>
              <a:t>a</a:t>
            </a:r>
            <a:r>
              <a:rPr lang="en-US" sz="1800" spc="-65" dirty="0">
                <a:solidFill>
                  <a:schemeClr val="bg1"/>
                </a:solidFill>
                <a:effectLst/>
                <a:latin typeface="RoMA"/>
                <a:ea typeface="Times New Roman" panose="02020603050405020304" pitchFamily="18" charset="0"/>
              </a:rPr>
              <a:t> </a:t>
            </a:r>
            <a:r>
              <a:rPr lang="en-US" sz="1800" dirty="0">
                <a:solidFill>
                  <a:schemeClr val="bg1"/>
                </a:solidFill>
                <a:effectLst/>
                <a:latin typeface="RoMA"/>
                <a:ea typeface="Times New Roman" panose="02020603050405020304" pitchFamily="18" charset="0"/>
              </a:rPr>
              <a:t>large</a:t>
            </a:r>
            <a:r>
              <a:rPr lang="en-US" sz="1800" spc="-65" dirty="0">
                <a:solidFill>
                  <a:schemeClr val="bg1"/>
                </a:solidFill>
                <a:effectLst/>
                <a:latin typeface="RoMA"/>
                <a:ea typeface="Times New Roman" panose="02020603050405020304" pitchFamily="18" charset="0"/>
              </a:rPr>
              <a:t> </a:t>
            </a:r>
            <a:r>
              <a:rPr lang="en-US" sz="1800" dirty="0">
                <a:solidFill>
                  <a:schemeClr val="bg1"/>
                </a:solidFill>
                <a:effectLst/>
                <a:latin typeface="RoMA"/>
                <a:ea typeface="Times New Roman" panose="02020603050405020304" pitchFamily="18" charset="0"/>
              </a:rPr>
              <a:t>form</a:t>
            </a:r>
            <a:r>
              <a:rPr lang="en-US" sz="1800" spc="-60" dirty="0">
                <a:solidFill>
                  <a:schemeClr val="bg1"/>
                </a:solidFill>
                <a:effectLst/>
                <a:latin typeface="RoMA"/>
                <a:ea typeface="Times New Roman" panose="02020603050405020304" pitchFamily="18" charset="0"/>
              </a:rPr>
              <a:t> </a:t>
            </a:r>
            <a:r>
              <a:rPr lang="en-US" sz="1800" dirty="0">
                <a:solidFill>
                  <a:schemeClr val="bg1"/>
                </a:solidFill>
                <a:effectLst/>
                <a:latin typeface="RoMA"/>
                <a:ea typeface="Times New Roman" panose="02020603050405020304" pitchFamily="18" charset="0"/>
              </a:rPr>
              <a:t>of</a:t>
            </a:r>
            <a:r>
              <a:rPr lang="en-US" sz="1800" spc="-65" dirty="0">
                <a:solidFill>
                  <a:schemeClr val="bg1"/>
                </a:solidFill>
                <a:effectLst/>
                <a:latin typeface="RoMA"/>
                <a:ea typeface="Times New Roman" panose="02020603050405020304" pitchFamily="18" charset="0"/>
              </a:rPr>
              <a:t> </a:t>
            </a:r>
            <a:r>
              <a:rPr lang="en-US" sz="1800" dirty="0">
                <a:solidFill>
                  <a:schemeClr val="bg1"/>
                </a:solidFill>
                <a:effectLst/>
                <a:latin typeface="RoMA"/>
                <a:ea typeface="Times New Roman" panose="02020603050405020304" pitchFamily="18" charset="0"/>
              </a:rPr>
              <a:t>the</a:t>
            </a:r>
            <a:r>
              <a:rPr lang="en-US" sz="1800" spc="-65" dirty="0">
                <a:solidFill>
                  <a:schemeClr val="bg1"/>
                </a:solidFill>
                <a:effectLst/>
                <a:latin typeface="RoMA"/>
                <a:ea typeface="Times New Roman" panose="02020603050405020304" pitchFamily="18" charset="0"/>
              </a:rPr>
              <a:t> </a:t>
            </a:r>
            <a:r>
              <a:rPr lang="en-US" sz="1800" dirty="0">
                <a:solidFill>
                  <a:schemeClr val="bg1"/>
                </a:solidFill>
                <a:effectLst/>
                <a:latin typeface="RoMA"/>
                <a:ea typeface="Times New Roman" panose="02020603050405020304" pitchFamily="18" charset="0"/>
              </a:rPr>
              <a:t>traditional</a:t>
            </a:r>
            <a:r>
              <a:rPr lang="en-US" sz="1800" spc="-10" dirty="0">
                <a:solidFill>
                  <a:schemeClr val="bg1"/>
                </a:solidFill>
                <a:effectLst/>
                <a:latin typeface="RoMA"/>
                <a:ea typeface="Times New Roman" panose="02020603050405020304" pitchFamily="18" charset="0"/>
              </a:rPr>
              <a:t> </a:t>
            </a:r>
            <a:r>
              <a:rPr lang="en-US" sz="1800" dirty="0">
                <a:solidFill>
                  <a:schemeClr val="bg1"/>
                </a:solidFill>
                <a:effectLst/>
                <a:latin typeface="RoMA"/>
                <a:ea typeface="Times New Roman" panose="02020603050405020304" pitchFamily="18" charset="0"/>
              </a:rPr>
              <a:t>grocery</a:t>
            </a:r>
            <a:r>
              <a:rPr lang="en-US" sz="1800" spc="-65" dirty="0">
                <a:solidFill>
                  <a:schemeClr val="bg1"/>
                </a:solidFill>
                <a:effectLst/>
                <a:latin typeface="RoMA"/>
                <a:ea typeface="Times New Roman" panose="02020603050405020304" pitchFamily="18" charset="0"/>
              </a:rPr>
              <a:t> </a:t>
            </a:r>
            <a:r>
              <a:rPr lang="en-US" sz="1800" dirty="0">
                <a:solidFill>
                  <a:schemeClr val="bg1"/>
                </a:solidFill>
                <a:effectLst/>
                <a:latin typeface="RoMA"/>
                <a:ea typeface="Times New Roman" panose="02020603050405020304" pitchFamily="18" charset="0"/>
              </a:rPr>
              <a:t>store,</a:t>
            </a:r>
            <a:r>
              <a:rPr lang="en-US" sz="1800" spc="-60" dirty="0">
                <a:solidFill>
                  <a:schemeClr val="bg1"/>
                </a:solidFill>
                <a:effectLst/>
                <a:latin typeface="RoMA"/>
                <a:ea typeface="Times New Roman" panose="02020603050405020304" pitchFamily="18" charset="0"/>
              </a:rPr>
              <a:t> </a:t>
            </a:r>
            <a:r>
              <a:rPr lang="en-US" sz="1800" dirty="0">
                <a:solidFill>
                  <a:schemeClr val="bg1"/>
                </a:solidFill>
                <a:effectLst/>
                <a:latin typeface="RoMA"/>
                <a:ea typeface="Times New Roman" panose="02020603050405020304" pitchFamily="18" charset="0"/>
              </a:rPr>
              <a:t>it</a:t>
            </a:r>
            <a:r>
              <a:rPr lang="en-US" sz="1800" spc="-55" dirty="0">
                <a:solidFill>
                  <a:schemeClr val="bg1"/>
                </a:solidFill>
                <a:effectLst/>
                <a:latin typeface="RoMA"/>
                <a:ea typeface="Times New Roman" panose="02020603050405020304" pitchFamily="18" charset="0"/>
              </a:rPr>
              <a:t> </a:t>
            </a:r>
            <a:r>
              <a:rPr lang="en-US" sz="1800" dirty="0">
                <a:solidFill>
                  <a:schemeClr val="bg1"/>
                </a:solidFill>
                <a:effectLst/>
                <a:latin typeface="RoMA"/>
                <a:ea typeface="Times New Roman" panose="02020603050405020304" pitchFamily="18" charset="0"/>
              </a:rPr>
              <a:t>is</a:t>
            </a:r>
            <a:r>
              <a:rPr lang="en-US" sz="1800" spc="-60" dirty="0">
                <a:solidFill>
                  <a:schemeClr val="bg1"/>
                </a:solidFill>
                <a:effectLst/>
                <a:latin typeface="RoMA"/>
                <a:ea typeface="Times New Roman" panose="02020603050405020304" pitchFamily="18" charset="0"/>
              </a:rPr>
              <a:t> </a:t>
            </a:r>
            <a:r>
              <a:rPr lang="en-US" sz="1800" dirty="0">
                <a:solidFill>
                  <a:schemeClr val="bg1"/>
                </a:solidFill>
                <a:effectLst/>
                <a:latin typeface="RoMA"/>
                <a:ea typeface="Times New Roman" panose="02020603050405020304" pitchFamily="18" charset="0"/>
              </a:rPr>
              <a:t>a</a:t>
            </a:r>
            <a:r>
              <a:rPr lang="en-US" sz="1800" spc="-65" dirty="0">
                <a:solidFill>
                  <a:schemeClr val="bg1"/>
                </a:solidFill>
                <a:effectLst/>
                <a:latin typeface="RoMA"/>
                <a:ea typeface="Times New Roman" panose="02020603050405020304" pitchFamily="18" charset="0"/>
              </a:rPr>
              <a:t> </a:t>
            </a:r>
            <a:r>
              <a:rPr lang="en-US" sz="1800" dirty="0">
                <a:solidFill>
                  <a:schemeClr val="bg1"/>
                </a:solidFill>
                <a:effectLst/>
                <a:latin typeface="RoMA"/>
                <a:ea typeface="Times New Roman" panose="02020603050405020304" pitchFamily="18" charset="0"/>
              </a:rPr>
              <a:t>self-service</a:t>
            </a:r>
            <a:r>
              <a:rPr lang="en-US" sz="1800" spc="-20" dirty="0">
                <a:solidFill>
                  <a:schemeClr val="bg1"/>
                </a:solidFill>
                <a:effectLst/>
                <a:latin typeface="RoMA"/>
                <a:ea typeface="Times New Roman" panose="02020603050405020304" pitchFamily="18" charset="0"/>
              </a:rPr>
              <a:t> </a:t>
            </a:r>
            <a:r>
              <a:rPr lang="en-US" sz="1800" dirty="0">
                <a:solidFill>
                  <a:schemeClr val="bg1"/>
                </a:solidFill>
                <a:effectLst/>
                <a:latin typeface="RoMA"/>
                <a:ea typeface="Times New Roman" panose="02020603050405020304" pitchFamily="18" charset="0"/>
              </a:rPr>
              <a:t>shop</a:t>
            </a:r>
            <a:r>
              <a:rPr lang="en-US" sz="1800" spc="-15" dirty="0">
                <a:solidFill>
                  <a:schemeClr val="bg1"/>
                </a:solidFill>
                <a:effectLst/>
                <a:latin typeface="RoMA"/>
                <a:ea typeface="Times New Roman" panose="02020603050405020304" pitchFamily="18" charset="0"/>
              </a:rPr>
              <a:t> </a:t>
            </a:r>
            <a:r>
              <a:rPr lang="en-US" sz="1800" dirty="0">
                <a:solidFill>
                  <a:schemeClr val="bg1"/>
                </a:solidFill>
                <a:effectLst/>
                <a:latin typeface="RoMA"/>
                <a:ea typeface="Times New Roman" panose="02020603050405020304" pitchFamily="18" charset="0"/>
              </a:rPr>
              <a:t>offering</a:t>
            </a:r>
            <a:r>
              <a:rPr lang="en-US" sz="1800" spc="-60" dirty="0">
                <a:solidFill>
                  <a:schemeClr val="bg1"/>
                </a:solidFill>
                <a:effectLst/>
                <a:latin typeface="RoMA"/>
                <a:ea typeface="Times New Roman" panose="02020603050405020304" pitchFamily="18" charset="0"/>
              </a:rPr>
              <a:t> </a:t>
            </a:r>
            <a:r>
              <a:rPr lang="en-US" sz="1800" dirty="0">
                <a:solidFill>
                  <a:schemeClr val="bg1"/>
                </a:solidFill>
                <a:effectLst/>
                <a:latin typeface="RoMA"/>
                <a:ea typeface="Times New Roman" panose="02020603050405020304" pitchFamily="18" charset="0"/>
              </a:rPr>
              <a:t>a</a:t>
            </a:r>
            <a:r>
              <a:rPr lang="en-US" sz="1800" spc="-65" dirty="0">
                <a:solidFill>
                  <a:schemeClr val="bg1"/>
                </a:solidFill>
                <a:effectLst/>
                <a:latin typeface="RoMA"/>
                <a:ea typeface="Times New Roman" panose="02020603050405020304" pitchFamily="18" charset="0"/>
              </a:rPr>
              <a:t> </a:t>
            </a:r>
            <a:r>
              <a:rPr lang="en-US" sz="1800" dirty="0">
                <a:solidFill>
                  <a:schemeClr val="bg1"/>
                </a:solidFill>
                <a:effectLst/>
                <a:latin typeface="RoMA"/>
                <a:ea typeface="Times New Roman" panose="02020603050405020304" pitchFamily="18" charset="0"/>
              </a:rPr>
              <a:t>wide variety of</a:t>
            </a:r>
            <a:r>
              <a:rPr lang="en-US" sz="1800" spc="-5" dirty="0">
                <a:solidFill>
                  <a:schemeClr val="bg1"/>
                </a:solidFill>
                <a:effectLst/>
                <a:latin typeface="RoMA"/>
                <a:ea typeface="Times New Roman" panose="02020603050405020304" pitchFamily="18" charset="0"/>
              </a:rPr>
              <a:t> </a:t>
            </a:r>
            <a:r>
              <a:rPr lang="en-US" sz="1800" dirty="0">
                <a:solidFill>
                  <a:schemeClr val="bg1"/>
                </a:solidFill>
                <a:effectLst/>
                <a:latin typeface="RoMA"/>
                <a:ea typeface="Times New Roman" panose="02020603050405020304" pitchFamily="18" charset="0"/>
              </a:rPr>
              <a:t>food</a:t>
            </a:r>
            <a:r>
              <a:rPr lang="en-US" sz="1800" spc="-15" dirty="0">
                <a:solidFill>
                  <a:schemeClr val="bg1"/>
                </a:solidFill>
                <a:effectLst/>
                <a:latin typeface="RoMA"/>
                <a:ea typeface="Times New Roman" panose="02020603050405020304" pitchFamily="18" charset="0"/>
              </a:rPr>
              <a:t> </a:t>
            </a:r>
            <a:r>
              <a:rPr lang="en-US" sz="1800" dirty="0">
                <a:solidFill>
                  <a:schemeClr val="bg1"/>
                </a:solidFill>
                <a:effectLst/>
                <a:latin typeface="RoMA"/>
                <a:ea typeface="Times New Roman" panose="02020603050405020304" pitchFamily="18" charset="0"/>
              </a:rPr>
              <a:t>and household products, organized into aisles. It is larger in size and has a wider selection than a traditional grocery store, but is smaller and more limited in the range of merchandise than a</a:t>
            </a:r>
            <a:r>
              <a:rPr lang="en-US" sz="1800" spc="-15" dirty="0">
                <a:solidFill>
                  <a:schemeClr val="bg1"/>
                </a:solidFill>
                <a:effectLst/>
                <a:latin typeface="RoMA"/>
                <a:ea typeface="Times New Roman" panose="02020603050405020304" pitchFamily="18" charset="0"/>
              </a:rPr>
              <a:t> </a:t>
            </a:r>
            <a:r>
              <a:rPr lang="en-US" sz="1800" dirty="0">
                <a:solidFill>
                  <a:schemeClr val="bg1"/>
                </a:solidFill>
                <a:effectLst/>
                <a:latin typeface="RoMA"/>
                <a:ea typeface="Times New Roman" panose="02020603050405020304" pitchFamily="18" charset="0"/>
              </a:rPr>
              <a:t>hypermarket</a:t>
            </a:r>
            <a:r>
              <a:rPr lang="en-US" sz="1800" spc="-10" dirty="0">
                <a:solidFill>
                  <a:schemeClr val="bg1"/>
                </a:solidFill>
                <a:effectLst/>
                <a:latin typeface="RoMA"/>
                <a:ea typeface="Times New Roman" panose="02020603050405020304" pitchFamily="18" charset="0"/>
              </a:rPr>
              <a:t> </a:t>
            </a:r>
            <a:r>
              <a:rPr lang="en-US" sz="1800" dirty="0">
                <a:solidFill>
                  <a:schemeClr val="bg1"/>
                </a:solidFill>
                <a:effectLst/>
                <a:latin typeface="RoMA"/>
                <a:ea typeface="Times New Roman" panose="02020603050405020304" pitchFamily="18" charset="0"/>
              </a:rPr>
              <a:t>or</a:t>
            </a:r>
            <a:r>
              <a:rPr lang="en-US" sz="1800" spc="-15" dirty="0">
                <a:solidFill>
                  <a:schemeClr val="bg1"/>
                </a:solidFill>
                <a:effectLst/>
                <a:latin typeface="RoMA"/>
                <a:ea typeface="Times New Roman" panose="02020603050405020304" pitchFamily="18" charset="0"/>
              </a:rPr>
              <a:t> </a:t>
            </a:r>
            <a:r>
              <a:rPr lang="en-US" sz="1800" dirty="0">
                <a:solidFill>
                  <a:schemeClr val="bg1"/>
                </a:solidFill>
                <a:effectLst/>
                <a:latin typeface="RoMA"/>
                <a:ea typeface="Times New Roman" panose="02020603050405020304" pitchFamily="18" charset="0"/>
              </a:rPr>
              <a:t>big-box market (Wikipedia).</a:t>
            </a:r>
          </a:p>
          <a:p>
            <a:pPr marL="228600" marR="224155" algn="just">
              <a:lnSpc>
                <a:spcPct val="150000"/>
              </a:lnSpc>
              <a:spcBef>
                <a:spcPts val="395"/>
              </a:spcBef>
            </a:pPr>
            <a:endParaRPr lang="en-US" sz="1800" dirty="0">
              <a:solidFill>
                <a:schemeClr val="bg1"/>
              </a:solidFill>
              <a:effectLst/>
              <a:latin typeface="RoMA"/>
              <a:ea typeface="Times New Roman" panose="02020603050405020304" pitchFamily="18" charset="0"/>
            </a:endParaRPr>
          </a:p>
          <a:p>
            <a:pPr algn="just">
              <a:lnSpc>
                <a:spcPct val="150000"/>
              </a:lnSpc>
              <a:spcBef>
                <a:spcPct val="0"/>
              </a:spcBef>
              <a:spcAft>
                <a:spcPts val="800"/>
              </a:spcAft>
            </a:pPr>
            <a:r>
              <a:rPr lang="en-US" dirty="0">
                <a:solidFill>
                  <a:schemeClr val="bg1"/>
                </a:solidFill>
                <a:latin typeface="RoMA"/>
              </a:rPr>
              <a:t>Patton (1990) noted that in the 1950s, supermarkets used trading stamps as customer incentives, while today they use loyalty or membership cards for discounts and data generation.</a:t>
            </a:r>
          </a:p>
          <a:p>
            <a:pPr algn="just">
              <a:lnSpc>
                <a:spcPct val="150000"/>
              </a:lnSpc>
              <a:spcBef>
                <a:spcPct val="0"/>
              </a:spcBef>
              <a:spcAft>
                <a:spcPts val="800"/>
              </a:spcAft>
            </a:pPr>
            <a:br>
              <a:rPr lang="en-US" dirty="0">
                <a:solidFill>
                  <a:schemeClr val="bg1"/>
                </a:solidFill>
                <a:latin typeface="RoMA"/>
              </a:rPr>
            </a:br>
            <a:r>
              <a:rPr lang="en-US" dirty="0">
                <a:solidFill>
                  <a:schemeClr val="bg1"/>
                </a:solidFill>
                <a:latin typeface="RoMA"/>
              </a:rPr>
              <a:t>Pagh and Cooper (1998) stated that the first true U.S. supermarket was King Kullen, opened by Michael J. Cullen in 1930, offering low prices, large volume sales, and parking.</a:t>
            </a:r>
          </a:p>
          <a:p>
            <a:pPr algn="just">
              <a:lnSpc>
                <a:spcPct val="150000"/>
              </a:lnSpc>
              <a:spcBef>
                <a:spcPct val="0"/>
              </a:spcBef>
              <a:spcAft>
                <a:spcPts val="800"/>
              </a:spcAft>
            </a:pPr>
            <a:br>
              <a:rPr lang="en-US" dirty="0">
                <a:solidFill>
                  <a:schemeClr val="bg1"/>
                </a:solidFill>
                <a:latin typeface="RoMA"/>
              </a:rPr>
            </a:br>
            <a:r>
              <a:rPr lang="en-US" dirty="0">
                <a:solidFill>
                  <a:schemeClr val="bg1"/>
                </a:solidFill>
                <a:latin typeface="RoMA"/>
              </a:rPr>
              <a:t>Rietze (2006) discussed the debate over the first supermarket, with King Kullen and Ralphs as top contenders. The Food Marketing Institute defined a supermarket by self-service, separate departments, discount pricing, marketing, and volume selling.</a:t>
            </a:r>
            <a:endParaRPr lang="en-US" altLang="en-US" sz="1800" dirty="0">
              <a:solidFill>
                <a:schemeClr val="bg1"/>
              </a:solidFill>
              <a:latin typeface="RoMA"/>
              <a:ea typeface="Calibri" panose="020F0502020204030204" pitchFamily="34" charset="0"/>
              <a:cs typeface="Times New Roman" panose="02020603050405020304" pitchFamily="18" charset="0"/>
            </a:endParaRPr>
          </a:p>
          <a:p>
            <a:pPr marL="0" algn="just">
              <a:lnSpc>
                <a:spcPct val="107000"/>
              </a:lnSpc>
              <a:spcBef>
                <a:spcPct val="0"/>
              </a:spcBef>
              <a:spcAft>
                <a:spcPts val="800"/>
              </a:spcAft>
            </a:pPr>
            <a:endParaRPr lang="en-US" altLang="en-US" sz="18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65425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01323FB-427E-4A8D-B473-AB0657D8D23B}"/>
              </a:ext>
            </a:extLst>
          </p:cNvPr>
          <p:cNvSpPr>
            <a:spLocks noGrp="1"/>
          </p:cNvSpPr>
          <p:nvPr>
            <p:ph type="title"/>
          </p:nvPr>
        </p:nvSpPr>
        <p:spPr>
          <a:xfrm>
            <a:off x="766618" y="177800"/>
            <a:ext cx="11214100" cy="840230"/>
          </a:xfrm>
        </p:spPr>
        <p:txBody>
          <a:bodyPr/>
          <a:lstStyle/>
          <a:p>
            <a:r>
              <a:rPr lang="en-US" altLang="en-US" sz="5400" dirty="0">
                <a:latin typeface="Times New Roman" panose="02020603050405020304" pitchFamily="18" charset="0"/>
              </a:rPr>
              <a:t>EXISTING SYSTEM</a:t>
            </a:r>
            <a:endParaRPr lang="en-US" sz="5400" dirty="0"/>
          </a:p>
        </p:txBody>
      </p:sp>
      <p:sp>
        <p:nvSpPr>
          <p:cNvPr id="2" name="Slide Number Placeholder 1">
            <a:extLst>
              <a:ext uri="{FF2B5EF4-FFF2-40B4-BE49-F238E27FC236}">
                <a16:creationId xmlns:a16="http://schemas.microsoft.com/office/drawing/2014/main" id="{E4398C1C-6656-4A73-A680-62A81CDC27FD}"/>
              </a:ext>
            </a:extLst>
          </p:cNvPr>
          <p:cNvSpPr>
            <a:spLocks noGrp="1"/>
          </p:cNvSpPr>
          <p:nvPr>
            <p:ph type="sldNum" sz="quarter" idx="12"/>
          </p:nvPr>
        </p:nvSpPr>
        <p:spPr/>
        <p:txBody>
          <a:bodyPr/>
          <a:lstStyle/>
          <a:p>
            <a:fld id="{C263D6C4-4840-40CC-AC84-17E24B3B7BDE}" type="slidenum">
              <a:rPr lang="en-US" smtClean="0"/>
              <a:pPr/>
              <a:t>10</a:t>
            </a:fld>
            <a:endParaRPr lang="en-US" dirty="0"/>
          </a:p>
        </p:txBody>
      </p:sp>
      <p:sp>
        <p:nvSpPr>
          <p:cNvPr id="3" name="TextBox 2">
            <a:extLst>
              <a:ext uri="{FF2B5EF4-FFF2-40B4-BE49-F238E27FC236}">
                <a16:creationId xmlns:a16="http://schemas.microsoft.com/office/drawing/2014/main" id="{DC9E4AE8-B56F-49E8-B79C-8937B53FC197}"/>
              </a:ext>
            </a:extLst>
          </p:cNvPr>
          <p:cNvSpPr txBox="1"/>
          <p:nvPr/>
        </p:nvSpPr>
        <p:spPr>
          <a:xfrm>
            <a:off x="211282" y="868886"/>
            <a:ext cx="11085945" cy="5324535"/>
          </a:xfrm>
          <a:prstGeom prst="rect">
            <a:avLst/>
          </a:prstGeom>
          <a:noFill/>
        </p:spPr>
        <p:txBody>
          <a:bodyPr wrap="square" rtlCol="0">
            <a:spAutoFit/>
          </a:bodyPr>
          <a:lstStyle/>
          <a:p>
            <a:pPr marL="228600" marR="225425" algn="just">
              <a:lnSpc>
                <a:spcPct val="150000"/>
              </a:lnSpc>
              <a:spcBef>
                <a:spcPts val="1200"/>
              </a:spcBef>
            </a:pPr>
            <a:r>
              <a:rPr lang="en-US" sz="1800" dirty="0">
                <a:solidFill>
                  <a:schemeClr val="bg1"/>
                </a:solidFill>
                <a:effectLst/>
                <a:latin typeface="Times New Roman" panose="02020603050405020304" pitchFamily="18" charset="0"/>
                <a:ea typeface="Times New Roman" panose="02020603050405020304" pitchFamily="18" charset="0"/>
              </a:rPr>
              <a:t>The purpose of this research is to find a way implementation that will provide a Solution not only to tourism hospitality as well as resort since it may be study a number of researches in this field by gathering enough information that will enhance the knowledge by comparing relevance  research case studies of relating this article entitled ―Online Supermarket management  system Management System for web based technology computerized system.</a:t>
            </a:r>
          </a:p>
          <a:p>
            <a:pPr algn="just" eaLnBrk="1" hangingPunct="1">
              <a:lnSpc>
                <a:spcPct val="150000"/>
              </a:lnSpc>
              <a:buFont typeface="+mj-lt"/>
              <a:buAutoNum type="arabicPeriod"/>
              <a:defRPr/>
            </a:pPr>
            <a:r>
              <a:rPr lang="so-SO"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Tesco Supermarket</a:t>
            </a:r>
            <a:endParaRPr lang="en-US" sz="2000" dirty="0">
              <a:solidFill>
                <a:schemeClr val="bg1"/>
              </a:solidFill>
              <a:latin typeface="Times New Roman" panose="02020603050405020304" pitchFamily="18" charset="0"/>
              <a:cs typeface="Times New Roman" panose="02020603050405020304" pitchFamily="18" charset="0"/>
            </a:endParaRPr>
          </a:p>
          <a:p>
            <a:endParaRPr lang="en-US" sz="2000" dirty="0">
              <a:solidFill>
                <a:schemeClr val="bg1"/>
              </a:solidFill>
            </a:endParaRPr>
          </a:p>
          <a:p>
            <a:endParaRPr lang="en-US" sz="2000" dirty="0">
              <a:solidFill>
                <a:schemeClr val="bg1"/>
              </a:solidFill>
            </a:endParaRPr>
          </a:p>
          <a:p>
            <a:endParaRPr lang="en-US" sz="2000" dirty="0">
              <a:solidFill>
                <a:schemeClr val="bg1"/>
              </a:solidFill>
            </a:endParaRPr>
          </a:p>
          <a:p>
            <a:endParaRPr lang="en-US" sz="2000" dirty="0">
              <a:solidFill>
                <a:schemeClr val="bg1"/>
              </a:solidFill>
            </a:endParaRPr>
          </a:p>
          <a:p>
            <a:endParaRPr lang="en-US" sz="2000" dirty="0">
              <a:solidFill>
                <a:schemeClr val="bg1"/>
              </a:solidFill>
            </a:endParaRPr>
          </a:p>
          <a:p>
            <a:endParaRPr lang="en-US" sz="2000" dirty="0">
              <a:solidFill>
                <a:schemeClr val="bg1"/>
              </a:solidFill>
            </a:endParaRPr>
          </a:p>
          <a:p>
            <a:endParaRPr lang="en-US" sz="2000" dirty="0">
              <a:solidFill>
                <a:schemeClr val="bg1"/>
              </a:solidFill>
            </a:endParaRPr>
          </a:p>
          <a:p>
            <a:endParaRPr lang="en-US" sz="2000" dirty="0">
              <a:solidFill>
                <a:schemeClr val="bg1"/>
              </a:solidFill>
            </a:endParaRPr>
          </a:p>
          <a:p>
            <a:r>
              <a:rPr lang="en-US" sz="1800" dirty="0">
                <a:solidFill>
                  <a:schemeClr val="bg1"/>
                </a:solidFill>
                <a:effectLst/>
                <a:latin typeface="Times New Roman" panose="02020603050405020304" pitchFamily="18" charset="0"/>
                <a:ea typeface="Calibri" panose="020F0502020204030204" pitchFamily="34" charset="0"/>
                <a:cs typeface="Arial" panose="020B0604020202020204" pitchFamily="34" charset="0"/>
              </a:rPr>
              <a:t>Figure 2.1</a:t>
            </a:r>
            <a:r>
              <a:rPr lang="en-US" sz="1800" dirty="0">
                <a:effectLst/>
                <a:latin typeface="Times New Roman" panose="02020603050405020304" pitchFamily="18" charset="0"/>
                <a:ea typeface="Calibri" panose="020F0502020204030204" pitchFamily="34" charset="0"/>
                <a:cs typeface="Arial" panose="020B0604020202020204" pitchFamily="34" charset="0"/>
              </a:rPr>
              <a:t>. </a:t>
            </a:r>
            <a:r>
              <a:rPr lang="so-SO" sz="18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Website link</a:t>
            </a:r>
            <a:r>
              <a:rPr lang="so-SO" sz="1800" b="1" dirty="0">
                <a:effectLst/>
                <a:latin typeface="Calibri" panose="020F0502020204030204" pitchFamily="34" charset="0"/>
                <a:ea typeface="Calibri" panose="020F0502020204030204" pitchFamily="34" charset="0"/>
                <a:cs typeface="Times New Roman" panose="02020603050405020304" pitchFamily="18" charset="0"/>
              </a:rPr>
              <a:t>:</a:t>
            </a:r>
            <a:r>
              <a:rPr lang="so-SO" sz="1800" dirty="0">
                <a:effectLst/>
                <a:latin typeface="Calibri" panose="020F0502020204030204" pitchFamily="34" charset="0"/>
                <a:ea typeface="Calibri" panose="020F0502020204030204" pitchFamily="34" charset="0"/>
                <a:cs typeface="Times New Roman" panose="02020603050405020304" pitchFamily="18" charset="0"/>
              </a:rPr>
              <a:t> </a:t>
            </a:r>
            <a:r>
              <a:rPr lang="so-SO" sz="1800" b="1"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2"/>
              </a:rPr>
              <a:t>https://www.tesco.com</a:t>
            </a:r>
            <a:r>
              <a:rPr lang="so-SO" sz="18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2000" dirty="0">
              <a:solidFill>
                <a:schemeClr val="bg1"/>
              </a:solidFill>
            </a:endParaRPr>
          </a:p>
        </p:txBody>
      </p:sp>
      <p:pic>
        <p:nvPicPr>
          <p:cNvPr id="7" name="Picture 6">
            <a:extLst>
              <a:ext uri="{FF2B5EF4-FFF2-40B4-BE49-F238E27FC236}">
                <a16:creationId xmlns:a16="http://schemas.microsoft.com/office/drawing/2014/main" id="{613E13BB-4704-34EE-7EE5-8D1C1F639366}"/>
              </a:ext>
            </a:extLst>
          </p:cNvPr>
          <p:cNvPicPr>
            <a:picLocks noChangeAspect="1"/>
          </p:cNvPicPr>
          <p:nvPr/>
        </p:nvPicPr>
        <p:blipFill>
          <a:blip r:embed="rId3"/>
          <a:stretch>
            <a:fillRect/>
          </a:stretch>
        </p:blipFill>
        <p:spPr>
          <a:xfrm>
            <a:off x="335280" y="3564606"/>
            <a:ext cx="5943600" cy="2017395"/>
          </a:xfrm>
          <a:prstGeom prst="rect">
            <a:avLst/>
          </a:prstGeom>
        </p:spPr>
      </p:pic>
    </p:spTree>
    <p:extLst>
      <p:ext uri="{BB962C8B-B14F-4D97-AF65-F5344CB8AC3E}">
        <p14:creationId xmlns:p14="http://schemas.microsoft.com/office/powerpoint/2010/main" val="3322300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8B9AB-0B54-41DA-8FFD-0368DBA13645}"/>
              </a:ext>
            </a:extLst>
          </p:cNvPr>
          <p:cNvSpPr>
            <a:spLocks noGrp="1"/>
          </p:cNvSpPr>
          <p:nvPr>
            <p:ph type="title"/>
          </p:nvPr>
        </p:nvSpPr>
        <p:spPr>
          <a:xfrm>
            <a:off x="444500" y="542925"/>
            <a:ext cx="11214100" cy="757130"/>
          </a:xfrm>
        </p:spPr>
        <p:txBody>
          <a:bodyPr/>
          <a:lstStyle/>
          <a:p>
            <a:r>
              <a:rPr lang="en-US" sz="4800" dirty="0"/>
              <a:t>Continue….</a:t>
            </a:r>
          </a:p>
        </p:txBody>
      </p:sp>
      <p:sp>
        <p:nvSpPr>
          <p:cNvPr id="3" name="Slide Number Placeholder 2">
            <a:extLst>
              <a:ext uri="{FF2B5EF4-FFF2-40B4-BE49-F238E27FC236}">
                <a16:creationId xmlns:a16="http://schemas.microsoft.com/office/drawing/2014/main" id="{44766932-E927-4298-BF5A-1781EA7284DB}"/>
              </a:ext>
            </a:extLst>
          </p:cNvPr>
          <p:cNvSpPr>
            <a:spLocks noGrp="1"/>
          </p:cNvSpPr>
          <p:nvPr>
            <p:ph type="sldNum" sz="quarter" idx="12"/>
          </p:nvPr>
        </p:nvSpPr>
        <p:spPr/>
        <p:txBody>
          <a:bodyPr/>
          <a:lstStyle/>
          <a:p>
            <a:fld id="{C263D6C4-4840-40CC-AC84-17E24B3B7BDE}" type="slidenum">
              <a:rPr lang="en-US" noProof="0" smtClean="0"/>
              <a:pPr/>
              <a:t>11</a:t>
            </a:fld>
            <a:endParaRPr lang="en-US" noProof="0" dirty="0"/>
          </a:p>
        </p:txBody>
      </p:sp>
      <p:sp>
        <p:nvSpPr>
          <p:cNvPr id="4" name="TextBox 3">
            <a:extLst>
              <a:ext uri="{FF2B5EF4-FFF2-40B4-BE49-F238E27FC236}">
                <a16:creationId xmlns:a16="http://schemas.microsoft.com/office/drawing/2014/main" id="{DCCAB34D-DEB4-412F-AC75-3B6A56D9F4A1}"/>
              </a:ext>
            </a:extLst>
          </p:cNvPr>
          <p:cNvSpPr txBox="1"/>
          <p:nvPr/>
        </p:nvSpPr>
        <p:spPr>
          <a:xfrm>
            <a:off x="444500" y="1787236"/>
            <a:ext cx="10684164" cy="4108817"/>
          </a:xfrm>
          <a:prstGeom prst="rect">
            <a:avLst/>
          </a:prstGeom>
          <a:noFill/>
        </p:spPr>
        <p:txBody>
          <a:bodyPr wrap="square" rtlCol="0">
            <a:spAutoFit/>
          </a:bodyPr>
          <a:lstStyle/>
          <a:p>
            <a:pPr algn="just">
              <a:lnSpc>
                <a:spcPct val="150000"/>
              </a:lnSpc>
            </a:pPr>
            <a:r>
              <a:rPr lang="en-US" sz="1800" kern="1200" dirty="0">
                <a:solidFill>
                  <a:srgbClr val="FFFFFF"/>
                </a:solidFill>
                <a:effectLst/>
                <a:latin typeface="Times New Roman" panose="02020603050405020304" pitchFamily="18" charset="0"/>
                <a:ea typeface="+mn-ea"/>
                <a:cs typeface="Times New Roman" panose="02020603050405020304" pitchFamily="18" charset="0"/>
              </a:rPr>
              <a:t>2. </a:t>
            </a:r>
            <a:r>
              <a:rPr lang="en-US" b="1" kern="100" dirty="0">
                <a:solidFill>
                  <a:schemeClr val="bg1"/>
                </a:solidFill>
                <a:latin typeface="Times New Roman" panose="02020603050405020304" pitchFamily="18" charset="0"/>
                <a:cs typeface="Times New Roman" panose="02020603050405020304" pitchFamily="18" charset="0"/>
              </a:rPr>
              <a:t>Hayaat Supermarket  website</a:t>
            </a:r>
            <a:endParaRPr lang="en-US" sz="1800" kern="1200" dirty="0">
              <a:solidFill>
                <a:srgbClr val="FFFFFF"/>
              </a:solidFill>
              <a:effectLst/>
              <a:latin typeface="Times New Roman" panose="02020603050405020304" pitchFamily="18" charset="0"/>
              <a:ea typeface="+mn-ea"/>
              <a:cs typeface="Times New Roman" panose="02020603050405020304" pitchFamily="18" charset="0"/>
            </a:endParaRPr>
          </a:p>
          <a:p>
            <a:pPr marL="0" algn="just" rtl="0" eaLnBrk="1" latinLnBrk="0" hangingPunct="1">
              <a:lnSpc>
                <a:spcPct val="150000"/>
              </a:lnSpc>
              <a:spcBef>
                <a:spcPts val="0"/>
              </a:spcBef>
              <a:spcAft>
                <a:spcPts val="0"/>
              </a:spcAft>
            </a:pPr>
            <a:endParaRPr lang="en-US" dirty="0">
              <a:effectLst/>
            </a:endParaRPr>
          </a:p>
          <a:p>
            <a:pPr marL="0" algn="just" rtl="0" eaLnBrk="1" latinLnBrk="0" hangingPunct="1">
              <a:lnSpc>
                <a:spcPct val="150000"/>
              </a:lnSpc>
              <a:spcBef>
                <a:spcPts val="0"/>
              </a:spcBef>
              <a:spcAft>
                <a:spcPts val="0"/>
              </a:spcAft>
            </a:pPr>
            <a:endParaRPr lang="en-US" dirty="0"/>
          </a:p>
          <a:p>
            <a:pPr marL="0" algn="just" rtl="0" eaLnBrk="1" latinLnBrk="0" hangingPunct="1">
              <a:lnSpc>
                <a:spcPct val="150000"/>
              </a:lnSpc>
              <a:spcBef>
                <a:spcPts val="0"/>
              </a:spcBef>
              <a:spcAft>
                <a:spcPts val="0"/>
              </a:spcAft>
            </a:pPr>
            <a:endParaRPr lang="en-US" dirty="0">
              <a:effectLst/>
            </a:endParaRPr>
          </a:p>
          <a:p>
            <a:pPr marL="0" algn="just" rtl="0" eaLnBrk="1" latinLnBrk="0" hangingPunct="1">
              <a:lnSpc>
                <a:spcPct val="150000"/>
              </a:lnSpc>
              <a:spcBef>
                <a:spcPts val="0"/>
              </a:spcBef>
              <a:spcAft>
                <a:spcPts val="0"/>
              </a:spcAft>
            </a:pPr>
            <a:endParaRPr lang="en-US" dirty="0"/>
          </a:p>
          <a:p>
            <a:pPr marL="0" algn="just" rtl="0" eaLnBrk="1" latinLnBrk="0" hangingPunct="1">
              <a:lnSpc>
                <a:spcPct val="150000"/>
              </a:lnSpc>
              <a:spcBef>
                <a:spcPts val="0"/>
              </a:spcBef>
              <a:spcAft>
                <a:spcPts val="0"/>
              </a:spcAft>
            </a:pPr>
            <a:endParaRPr lang="en-US" dirty="0">
              <a:effectLst/>
            </a:endParaRPr>
          </a:p>
          <a:p>
            <a:pPr marL="0" algn="just" rtl="0" eaLnBrk="1" latinLnBrk="0" hangingPunct="1">
              <a:lnSpc>
                <a:spcPct val="150000"/>
              </a:lnSpc>
              <a:spcBef>
                <a:spcPts val="0"/>
              </a:spcBef>
              <a:spcAft>
                <a:spcPts val="0"/>
              </a:spcAft>
            </a:pPr>
            <a:endParaRPr lang="en-US" dirty="0">
              <a:effectLst/>
            </a:endParaRPr>
          </a:p>
          <a:p>
            <a:pPr algn="just">
              <a:lnSpc>
                <a:spcPct val="150000"/>
              </a:lnSpc>
            </a:pPr>
            <a:r>
              <a:rPr lang="en-US" sz="1800" dirty="0">
                <a:solidFill>
                  <a:schemeClr val="bg1"/>
                </a:solidFill>
                <a:effectLst/>
                <a:latin typeface="Times New Roman" panose="02020603050405020304" pitchFamily="18" charset="0"/>
                <a:ea typeface="Calibri" panose="020F0502020204030204" pitchFamily="34" charset="0"/>
                <a:cs typeface="Arial" panose="020B0604020202020204" pitchFamily="34" charset="0"/>
              </a:rPr>
              <a:t>Figure</a:t>
            </a:r>
            <a:r>
              <a:rPr lang="en-US" sz="1800" dirty="0">
                <a:effectLst/>
                <a:latin typeface="Times New Roman" panose="02020603050405020304" pitchFamily="18" charset="0"/>
                <a:ea typeface="Calibri" panose="020F0502020204030204" pitchFamily="34" charset="0"/>
                <a:cs typeface="Arial" panose="020B0604020202020204" pitchFamily="34" charset="0"/>
              </a:rPr>
              <a:t> </a:t>
            </a:r>
            <a:r>
              <a:rPr lang="en-US" sz="1800" u="sng" dirty="0">
                <a:solidFill>
                  <a:srgbClr val="0000FF"/>
                </a:solidFill>
                <a:effectLst/>
                <a:latin typeface="Times New Roman" panose="02020603050405020304" pitchFamily="18" charset="0"/>
                <a:ea typeface="Calibri" panose="020F0502020204030204" pitchFamily="34" charset="0"/>
                <a:cs typeface="Arial" panose="020B0604020202020204" pitchFamily="34" charset="0"/>
                <a:hlinkClick r:id="rId2"/>
              </a:rPr>
              <a:t>https://nbtskenya.or.ke/</a:t>
            </a:r>
            <a:endParaRPr lang="en-US" sz="1800" kern="1200" dirty="0">
              <a:solidFill>
                <a:srgbClr val="FFFFFF"/>
              </a:solidFill>
              <a:effectLst/>
              <a:latin typeface="Times New Roman" panose="02020603050405020304" pitchFamily="18" charset="0"/>
              <a:ea typeface="+mn-ea"/>
              <a:cs typeface="Times New Roman" panose="02020603050405020304" pitchFamily="18" charset="0"/>
            </a:endParaRPr>
          </a:p>
          <a:p>
            <a:pPr marL="0" algn="just" rtl="0" eaLnBrk="1" latinLnBrk="0" hangingPunct="1">
              <a:lnSpc>
                <a:spcPct val="150000"/>
              </a:lnSpc>
              <a:spcBef>
                <a:spcPts val="0"/>
              </a:spcBef>
              <a:spcAft>
                <a:spcPts val="0"/>
              </a:spcAft>
            </a:pPr>
            <a:r>
              <a:rPr lang="en-US" sz="1800" kern="1200" dirty="0">
                <a:solidFill>
                  <a:srgbClr val="FFFFFF"/>
                </a:solidFill>
                <a:effectLst/>
                <a:latin typeface="Times New Roman" panose="02020603050405020304" pitchFamily="18" charset="0"/>
                <a:ea typeface="+mn-ea"/>
                <a:cs typeface="Times New Roman" panose="02020603050405020304" pitchFamily="18" charset="0"/>
              </a:rPr>
              <a:t>3.Hayaat supermarket management system</a:t>
            </a:r>
            <a:endParaRPr lang="en-US" dirty="0">
              <a:effectLst/>
            </a:endParaRPr>
          </a:p>
          <a:p>
            <a:endParaRPr lang="en-US" dirty="0"/>
          </a:p>
        </p:txBody>
      </p:sp>
      <p:pic>
        <p:nvPicPr>
          <p:cNvPr id="5" name="Picture 4">
            <a:extLst>
              <a:ext uri="{FF2B5EF4-FFF2-40B4-BE49-F238E27FC236}">
                <a16:creationId xmlns:a16="http://schemas.microsoft.com/office/drawing/2014/main" id="{DD4C4768-8412-5A7A-8867-76846D432CE8}"/>
              </a:ext>
            </a:extLst>
          </p:cNvPr>
          <p:cNvPicPr>
            <a:picLocks noChangeAspect="1"/>
          </p:cNvPicPr>
          <p:nvPr/>
        </p:nvPicPr>
        <p:blipFill>
          <a:blip r:embed="rId3"/>
          <a:stretch>
            <a:fillRect/>
          </a:stretch>
        </p:blipFill>
        <p:spPr>
          <a:xfrm>
            <a:off x="528828" y="2358516"/>
            <a:ext cx="6386922" cy="2460371"/>
          </a:xfrm>
          <a:prstGeom prst="rect">
            <a:avLst/>
          </a:prstGeom>
        </p:spPr>
      </p:pic>
    </p:spTree>
    <p:extLst>
      <p:ext uri="{BB962C8B-B14F-4D97-AF65-F5344CB8AC3E}">
        <p14:creationId xmlns:p14="http://schemas.microsoft.com/office/powerpoint/2010/main" val="11917927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9611B256-EF5D-4D94-BF59-858CCA571746}"/>
              </a:ext>
            </a:extLst>
          </p:cNvPr>
          <p:cNvSpPr/>
          <p:nvPr/>
        </p:nvSpPr>
        <p:spPr>
          <a:xfrm>
            <a:off x="426027" y="798287"/>
            <a:ext cx="2140528" cy="2140528"/>
          </a:xfrm>
          <a:prstGeom prst="ellipse">
            <a:avLst/>
          </a:prstGeom>
          <a:solidFill>
            <a:srgbClr val="003A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A4CD37D6-FE32-48E3-A3AD-F07BE6A19FA1}"/>
              </a:ext>
            </a:extLst>
          </p:cNvPr>
          <p:cNvSpPr>
            <a:spLocks noGrp="1"/>
          </p:cNvSpPr>
          <p:nvPr>
            <p:ph type="title"/>
          </p:nvPr>
        </p:nvSpPr>
        <p:spPr>
          <a:xfrm>
            <a:off x="2040082" y="2314575"/>
            <a:ext cx="7280564" cy="4000500"/>
          </a:xfrm>
        </p:spPr>
        <p:txBody>
          <a:bodyPr>
            <a:normAutofit/>
          </a:bodyPr>
          <a:lstStyle/>
          <a:p>
            <a:r>
              <a:rPr lang="en-US" altLang="en-US" sz="4400" dirty="0">
                <a:latin typeface="Times New Roman" panose="02020603050405020304" pitchFamily="18" charset="0"/>
                <a:cs typeface="Times New Roman" panose="02020603050405020304" pitchFamily="18" charset="0"/>
              </a:rPr>
              <a:t>Data Gathering</a:t>
            </a:r>
            <a:br>
              <a:rPr lang="en-US" altLang="en-US" sz="4400" dirty="0">
                <a:latin typeface="Times New Roman" panose="02020603050405020304" pitchFamily="18" charset="0"/>
                <a:cs typeface="Times New Roman" panose="02020603050405020304" pitchFamily="18" charset="0"/>
              </a:rPr>
            </a:br>
            <a:r>
              <a:rPr lang="en-US" altLang="en-US" sz="4400" dirty="0">
                <a:latin typeface="Times New Roman" panose="02020603050405020304" pitchFamily="18" charset="0"/>
                <a:cs typeface="Times New Roman" panose="02020603050405020304" pitchFamily="18" charset="0"/>
              </a:rPr>
              <a:t>Data flow Diagram</a:t>
            </a:r>
            <a:br>
              <a:rPr lang="en-US" altLang="en-US" sz="4400" dirty="0">
                <a:latin typeface="Times New Roman" panose="02020603050405020304" pitchFamily="18" charset="0"/>
                <a:cs typeface="Times New Roman" panose="02020603050405020304" pitchFamily="18" charset="0"/>
              </a:rPr>
            </a:br>
            <a:r>
              <a:rPr lang="en-US" altLang="en-US" sz="4400" dirty="0">
                <a:latin typeface="Times New Roman" panose="02020603050405020304" pitchFamily="18" charset="0"/>
                <a:cs typeface="Times New Roman" panose="02020603050405020304" pitchFamily="18" charset="0"/>
              </a:rPr>
              <a:t>Feasibility Study</a:t>
            </a:r>
            <a:br>
              <a:rPr lang="en-US" altLang="en-US" sz="4400" dirty="0">
                <a:latin typeface="Times New Roman" panose="02020603050405020304" pitchFamily="18" charset="0"/>
                <a:cs typeface="Times New Roman" panose="02020603050405020304" pitchFamily="18" charset="0"/>
              </a:rPr>
            </a:br>
            <a:r>
              <a:rPr lang="en-US" altLang="en-US" sz="4400" dirty="0">
                <a:latin typeface="Times New Roman" panose="02020603050405020304" pitchFamily="18" charset="0"/>
                <a:cs typeface="Times New Roman" panose="02020603050405020304" pitchFamily="18" charset="0"/>
              </a:rPr>
              <a:t>New proposed system</a:t>
            </a:r>
            <a:br>
              <a:rPr lang="en-US" altLang="en-US" sz="4400" dirty="0">
                <a:latin typeface="Times New Roman" panose="02020603050405020304" pitchFamily="18" charset="0"/>
                <a:cs typeface="Times New Roman" panose="02020603050405020304" pitchFamily="18" charset="0"/>
              </a:rPr>
            </a:br>
            <a:r>
              <a:rPr lang="en-US" altLang="en-US" sz="4400" dirty="0">
                <a:latin typeface="Times New Roman" panose="02020603050405020304" pitchFamily="18" charset="0"/>
                <a:cs typeface="Times New Roman" panose="02020603050405020304" pitchFamily="18" charset="0"/>
              </a:rPr>
              <a:t>Solution Strategy</a:t>
            </a:r>
          </a:p>
        </p:txBody>
      </p:sp>
      <p:sp>
        <p:nvSpPr>
          <p:cNvPr id="2" name="Slide Number Placeholder 1">
            <a:extLst>
              <a:ext uri="{FF2B5EF4-FFF2-40B4-BE49-F238E27FC236}">
                <a16:creationId xmlns:a16="http://schemas.microsoft.com/office/drawing/2014/main" id="{8EDC7217-2779-44E0-9E6D-3B3879516A1D}"/>
              </a:ext>
            </a:extLst>
          </p:cNvPr>
          <p:cNvSpPr>
            <a:spLocks noGrp="1"/>
          </p:cNvSpPr>
          <p:nvPr>
            <p:ph type="sldNum" sz="quarter" idx="12"/>
          </p:nvPr>
        </p:nvSpPr>
        <p:spPr/>
        <p:txBody>
          <a:bodyPr/>
          <a:lstStyle/>
          <a:p>
            <a:fld id="{C263D6C4-4840-40CC-AC84-17E24B3B7BDE}" type="slidenum">
              <a:rPr lang="en-US" smtClean="0"/>
              <a:pPr/>
              <a:t>12</a:t>
            </a:fld>
            <a:endParaRPr lang="en-US" dirty="0"/>
          </a:p>
        </p:txBody>
      </p:sp>
      <p:sp>
        <p:nvSpPr>
          <p:cNvPr id="3" name="TextBox 2">
            <a:extLst>
              <a:ext uri="{FF2B5EF4-FFF2-40B4-BE49-F238E27FC236}">
                <a16:creationId xmlns:a16="http://schemas.microsoft.com/office/drawing/2014/main" id="{C15B4A88-1799-4385-9A65-471512946CE9}"/>
              </a:ext>
            </a:extLst>
          </p:cNvPr>
          <p:cNvSpPr txBox="1"/>
          <p:nvPr/>
        </p:nvSpPr>
        <p:spPr>
          <a:xfrm>
            <a:off x="2223653" y="592282"/>
            <a:ext cx="7169729" cy="1077218"/>
          </a:xfrm>
          <a:prstGeom prst="rect">
            <a:avLst/>
          </a:prstGeom>
          <a:noFill/>
        </p:spPr>
        <p:txBody>
          <a:bodyPr wrap="square" rtlCol="0">
            <a:spAutoFit/>
          </a:bodyPr>
          <a:lstStyle/>
          <a:p>
            <a:pPr algn="ctr"/>
            <a:r>
              <a:rPr kumimoji="0" lang="en-US" altLang="en-US" sz="3200" b="1" dirty="0">
                <a:solidFill>
                  <a:schemeClr val="bg1"/>
                </a:solidFill>
                <a:latin typeface="+mj-lt"/>
                <a:cs typeface="Arial" panose="020B0604020202020204" pitchFamily="34" charset="0"/>
              </a:rPr>
              <a:t>CHAPTER THREE</a:t>
            </a:r>
            <a:br>
              <a:rPr kumimoji="0" lang="en-US" altLang="en-US" sz="3200" b="1" dirty="0">
                <a:solidFill>
                  <a:schemeClr val="bg1"/>
                </a:solidFill>
                <a:latin typeface="+mj-lt"/>
                <a:cs typeface="Arial" panose="020B0604020202020204" pitchFamily="34" charset="0"/>
              </a:rPr>
            </a:br>
            <a:r>
              <a:rPr kumimoji="0" lang="en-US" altLang="en-US" sz="3200" b="1" dirty="0">
                <a:solidFill>
                  <a:schemeClr val="bg1"/>
                </a:solidFill>
                <a:latin typeface="+mj-lt"/>
                <a:cs typeface="Arial" panose="020B0604020202020204" pitchFamily="34" charset="0"/>
              </a:rPr>
              <a:t>REQUIREMENT ANALYSIS</a:t>
            </a:r>
            <a:endParaRPr lang="en-US" sz="3200" b="1" dirty="0">
              <a:solidFill>
                <a:schemeClr val="bg1"/>
              </a:solidFill>
              <a:latin typeface="+mj-lt"/>
            </a:endParaRPr>
          </a:p>
        </p:txBody>
      </p:sp>
    </p:spTree>
    <p:extLst>
      <p:ext uri="{BB962C8B-B14F-4D97-AF65-F5344CB8AC3E}">
        <p14:creationId xmlns:p14="http://schemas.microsoft.com/office/powerpoint/2010/main" val="914134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FEF02EC-B440-44C3-A172-F07AF9846372}"/>
              </a:ext>
            </a:extLst>
          </p:cNvPr>
          <p:cNvSpPr>
            <a:spLocks noGrp="1"/>
          </p:cNvSpPr>
          <p:nvPr>
            <p:ph type="sldNum" sz="quarter" idx="12"/>
          </p:nvPr>
        </p:nvSpPr>
        <p:spPr/>
        <p:txBody>
          <a:bodyPr/>
          <a:lstStyle/>
          <a:p>
            <a:fld id="{C263D6C4-4840-40CC-AC84-17E24B3B7BDE}" type="slidenum">
              <a:rPr lang="en-US" noProof="0" smtClean="0"/>
              <a:pPr/>
              <a:t>13</a:t>
            </a:fld>
            <a:endParaRPr lang="en-US" noProof="0" dirty="0"/>
          </a:p>
        </p:txBody>
      </p:sp>
      <p:sp>
        <p:nvSpPr>
          <p:cNvPr id="4" name="Title 3">
            <a:extLst>
              <a:ext uri="{FF2B5EF4-FFF2-40B4-BE49-F238E27FC236}">
                <a16:creationId xmlns:a16="http://schemas.microsoft.com/office/drawing/2014/main" id="{84B82BE3-208E-433E-8123-546FE46F18FE}"/>
              </a:ext>
            </a:extLst>
          </p:cNvPr>
          <p:cNvSpPr>
            <a:spLocks noGrp="1"/>
          </p:cNvSpPr>
          <p:nvPr>
            <p:ph type="title"/>
          </p:nvPr>
        </p:nvSpPr>
        <p:spPr>
          <a:xfrm>
            <a:off x="2079013" y="561109"/>
            <a:ext cx="7781544" cy="859055"/>
          </a:xfrm>
        </p:spPr>
        <p:txBody>
          <a:bodyPr>
            <a:normAutofit/>
          </a:bodyPr>
          <a:lstStyle/>
          <a:p>
            <a:r>
              <a:rPr lang="so-SO" dirty="0"/>
              <a:t>DATA GATHERING</a:t>
            </a:r>
            <a:endParaRPr lang="en-US" sz="60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76756AEF-6760-4369-B8C0-1D0AABE095D5}"/>
              </a:ext>
            </a:extLst>
          </p:cNvPr>
          <p:cNvSpPr txBox="1"/>
          <p:nvPr/>
        </p:nvSpPr>
        <p:spPr>
          <a:xfrm>
            <a:off x="633845" y="2192482"/>
            <a:ext cx="9019310" cy="2585323"/>
          </a:xfrm>
          <a:prstGeom prst="rect">
            <a:avLst/>
          </a:prstGeom>
          <a:noFill/>
        </p:spPr>
        <p:txBody>
          <a:bodyPr wrap="square" rtlCol="0">
            <a:spAutoFit/>
          </a:bodyPr>
          <a:lstStyle/>
          <a:p>
            <a:r>
              <a:rPr lang="so-SO" dirty="0">
                <a:solidFill>
                  <a:schemeClr val="bg1"/>
                </a:solidFill>
              </a:rPr>
              <a:t>Data gathering was conducted using multiple methodologies to understand the needs and pain points of users. These methods ensured comprehensive coverage of functional and non-functional requirements.</a:t>
            </a:r>
            <a:endParaRPr lang="en-US" dirty="0">
              <a:solidFill>
                <a:schemeClr val="bg1"/>
              </a:solidFill>
            </a:endParaRPr>
          </a:p>
          <a:p>
            <a:r>
              <a:rPr lang="so-SO" dirty="0">
                <a:solidFill>
                  <a:schemeClr val="bg1"/>
                </a:solidFill>
              </a:rPr>
              <a:t>a. Interviews: Conducted with store managers and cashiers to gather insights on daily operations and system expectations.</a:t>
            </a:r>
            <a:br>
              <a:rPr lang="so-SO" dirty="0">
                <a:solidFill>
                  <a:schemeClr val="bg1"/>
                </a:solidFill>
              </a:rPr>
            </a:br>
            <a:r>
              <a:rPr lang="so-SO" dirty="0">
                <a:solidFill>
                  <a:schemeClr val="bg1"/>
                </a:solidFill>
              </a:rPr>
              <a:t>b. Observations / Surveys: Observed workflows and surveyed customers to understand service delivery gaps.</a:t>
            </a:r>
            <a:br>
              <a:rPr lang="so-SO" dirty="0">
                <a:solidFill>
                  <a:schemeClr val="bg1"/>
                </a:solidFill>
              </a:rPr>
            </a:br>
            <a:r>
              <a:rPr lang="so-SO" dirty="0">
                <a:solidFill>
                  <a:schemeClr val="bg1"/>
                </a:solidFill>
              </a:rPr>
              <a:t>c. Questionnaires and Other Documents: Collected feedback from stakeholders using structured questionnaires and reviewed existing documentation.</a:t>
            </a:r>
            <a:endParaRPr lang="en-US" dirty="0">
              <a:solidFill>
                <a:schemeClr val="bg1"/>
              </a:solidFill>
            </a:endParaRPr>
          </a:p>
        </p:txBody>
      </p:sp>
    </p:spTree>
    <p:extLst>
      <p:ext uri="{BB962C8B-B14F-4D97-AF65-F5344CB8AC3E}">
        <p14:creationId xmlns:p14="http://schemas.microsoft.com/office/powerpoint/2010/main" val="19576019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a:xfrm>
            <a:off x="3474872" y="734009"/>
            <a:ext cx="6555658" cy="251720"/>
          </a:xfrm>
        </p:spPr>
        <p:txBody>
          <a:bodyPr/>
          <a:lstStyle/>
          <a:p>
            <a:r>
              <a:rPr lang="so-SO" sz="3200" dirty="0">
                <a:latin typeface="New"/>
              </a:rPr>
              <a:t>Uniftied Modelling Language</a:t>
            </a:r>
            <a:br>
              <a:rPr lang="en-US" altLang="en-US" sz="3200" dirty="0">
                <a:latin typeface="New"/>
              </a:rPr>
            </a:br>
            <a:br>
              <a:rPr lang="en-US" sz="3200" dirty="0">
                <a:solidFill>
                  <a:schemeClr val="accent1"/>
                </a:solidFill>
                <a:latin typeface="New"/>
                <a:cs typeface="Times New Roman" panose="02020603050405020304" pitchFamily="18" charset="0"/>
              </a:rPr>
            </a:br>
            <a:endParaRPr lang="en-GB" sz="3200" dirty="0">
              <a:latin typeface="New"/>
            </a:endParaRPr>
          </a:p>
        </p:txBody>
      </p:sp>
      <p:sp>
        <p:nvSpPr>
          <p:cNvPr id="4" name="TextBox 3">
            <a:extLst>
              <a:ext uri="{FF2B5EF4-FFF2-40B4-BE49-F238E27FC236}">
                <a16:creationId xmlns:a16="http://schemas.microsoft.com/office/drawing/2014/main" id="{77D7CA8E-A459-437F-8457-F9E240C63C72}"/>
              </a:ext>
            </a:extLst>
          </p:cNvPr>
          <p:cNvSpPr txBox="1"/>
          <p:nvPr/>
        </p:nvSpPr>
        <p:spPr>
          <a:xfrm>
            <a:off x="2092363" y="1317503"/>
            <a:ext cx="8593628" cy="3693319"/>
          </a:xfrm>
          <a:prstGeom prst="rect">
            <a:avLst/>
          </a:prstGeom>
          <a:noFill/>
        </p:spPr>
        <p:txBody>
          <a:bodyPr wrap="square" rtlCol="0">
            <a:spAutoFit/>
          </a:bodyPr>
          <a:lstStyle/>
          <a:p>
            <a:r>
              <a:rPr lang="en-US" dirty="0">
                <a:solidFill>
                  <a:schemeClr val="bg1"/>
                </a:solidFill>
              </a:rPr>
              <a:t>Unified Modeling Language, (UML) is a standardized modeling language consisting of an integrated set of diagrams, developed to help system and software developers for specifying, visualizing, constructing, and documenting the artifacts of software systems, as well as </a:t>
            </a:r>
            <a:r>
              <a:rPr lang="en-US" dirty="0">
                <a:solidFill>
                  <a:schemeClr val="bg1"/>
                </a:solidFill>
                <a:latin typeface="New"/>
              </a:rPr>
              <a:t>for</a:t>
            </a:r>
            <a:r>
              <a:rPr lang="en-US" dirty="0">
                <a:solidFill>
                  <a:schemeClr val="bg1"/>
                </a:solidFill>
              </a:rPr>
              <a:t> business modeling and other non-software systems. The UML represents a collection of best engineering practices that have proven successful in the modeling of large and complex systems. </a:t>
            </a:r>
          </a:p>
          <a:p>
            <a:r>
              <a:rPr lang="en-US" dirty="0">
                <a:solidFill>
                  <a:schemeClr val="bg1"/>
                </a:solidFill>
              </a:rPr>
              <a:t>The UML is a very important part of developing object oriented software and the software development process. The UML uses mostly graphical notations to express the design of software projects. Using the UML helps project teams communicate, explore potential designs, and validate the architectural design of the software which mostly summarized its features in usability used commonly are use case diagram , activity diagram, class diagram  and as well as sequence diagram </a:t>
            </a:r>
          </a:p>
        </p:txBody>
      </p:sp>
    </p:spTree>
    <p:extLst>
      <p:ext uri="{BB962C8B-B14F-4D97-AF65-F5344CB8AC3E}">
        <p14:creationId xmlns:p14="http://schemas.microsoft.com/office/powerpoint/2010/main" val="429771863"/>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078E298-4E6B-498B-B98A-C951C94DE97F}"/>
              </a:ext>
            </a:extLst>
          </p:cNvPr>
          <p:cNvSpPr>
            <a:spLocks noGrp="1"/>
          </p:cNvSpPr>
          <p:nvPr>
            <p:ph type="sldNum" sz="quarter" idx="12"/>
          </p:nvPr>
        </p:nvSpPr>
        <p:spPr/>
        <p:txBody>
          <a:bodyPr/>
          <a:lstStyle/>
          <a:p>
            <a:fld id="{C263D6C4-4840-40CC-AC84-17E24B3B7BDE}" type="slidenum">
              <a:rPr lang="en-US" noProof="0" smtClean="0"/>
              <a:pPr/>
              <a:t>15</a:t>
            </a:fld>
            <a:endParaRPr lang="en-US" noProof="0" dirty="0"/>
          </a:p>
        </p:txBody>
      </p:sp>
      <p:sp>
        <p:nvSpPr>
          <p:cNvPr id="5" name="TextBox 4">
            <a:extLst>
              <a:ext uri="{FF2B5EF4-FFF2-40B4-BE49-F238E27FC236}">
                <a16:creationId xmlns:a16="http://schemas.microsoft.com/office/drawing/2014/main" id="{CD86EFB5-DDF5-493F-8D21-33EF05EF7B42}"/>
              </a:ext>
            </a:extLst>
          </p:cNvPr>
          <p:cNvSpPr txBox="1"/>
          <p:nvPr/>
        </p:nvSpPr>
        <p:spPr>
          <a:xfrm>
            <a:off x="4094018" y="478901"/>
            <a:ext cx="4038478"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ea typeface="Calibri" panose="020F0502020204030204" pitchFamily="34" charset="0"/>
              </a:rPr>
              <a:t>UML</a:t>
            </a:r>
            <a:r>
              <a:rPr lang="en-US" sz="1800" b="1" dirty="0">
                <a:solidFill>
                  <a:schemeClr val="bg1"/>
                </a:solidFill>
                <a:effectLst/>
                <a:latin typeface="Times New Roman" panose="02020603050405020304" pitchFamily="18" charset="0"/>
                <a:ea typeface="Calibri" panose="020F0502020204030204" pitchFamily="34" charset="0"/>
              </a:rPr>
              <a:t> –</a:t>
            </a:r>
            <a:r>
              <a:rPr lang="so-SO" b="1" dirty="0">
                <a:solidFill>
                  <a:schemeClr val="bg1"/>
                </a:solidFill>
              </a:rPr>
              <a:t>Uniftied Modelling Language</a:t>
            </a:r>
            <a:endParaRPr lang="en-US" dirty="0">
              <a:solidFill>
                <a:schemeClr val="bg1"/>
              </a:solidFill>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6850D7EA-705B-5373-8AA7-37125D5F3F09}"/>
              </a:ext>
            </a:extLst>
          </p:cNvPr>
          <p:cNvPicPr>
            <a:picLocks noChangeAspect="1"/>
          </p:cNvPicPr>
          <p:nvPr/>
        </p:nvPicPr>
        <p:blipFill>
          <a:blip r:embed="rId2"/>
          <a:stretch>
            <a:fillRect/>
          </a:stretch>
        </p:blipFill>
        <p:spPr>
          <a:xfrm>
            <a:off x="3814888" y="1319002"/>
            <a:ext cx="4422803" cy="4758117"/>
          </a:xfrm>
          <a:prstGeom prst="rect">
            <a:avLst/>
          </a:prstGeom>
        </p:spPr>
      </p:pic>
    </p:spTree>
    <p:extLst>
      <p:ext uri="{BB962C8B-B14F-4D97-AF65-F5344CB8AC3E}">
        <p14:creationId xmlns:p14="http://schemas.microsoft.com/office/powerpoint/2010/main" val="24356873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913CD-87C5-4DA9-B4B4-1C2EDB440159}"/>
              </a:ext>
            </a:extLst>
          </p:cNvPr>
          <p:cNvSpPr>
            <a:spLocks noGrp="1"/>
          </p:cNvSpPr>
          <p:nvPr>
            <p:ph type="ctrTitle"/>
          </p:nvPr>
        </p:nvSpPr>
        <p:spPr>
          <a:xfrm>
            <a:off x="2616014" y="498763"/>
            <a:ext cx="8013885" cy="1012073"/>
          </a:xfrm>
        </p:spPr>
        <p:txBody>
          <a:bodyPr/>
          <a:lstStyle/>
          <a:p>
            <a:pPr algn="ctr"/>
            <a:r>
              <a:rPr lang="en-US" altLang="en-US" sz="5400" dirty="0">
                <a:solidFill>
                  <a:schemeClr val="bg1"/>
                </a:solidFill>
                <a:latin typeface="Times New Roman" panose="02020603050405020304" pitchFamily="18" charset="0"/>
                <a:cs typeface="Times New Roman" panose="02020603050405020304" pitchFamily="18" charset="0"/>
              </a:rPr>
              <a:t>FEASIBILITY STUDY</a:t>
            </a:r>
            <a:endParaRPr lang="en-US" sz="5400" dirty="0">
              <a:solidFill>
                <a:schemeClr val="bg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7BCC8CAD-B1F2-4F60-8409-A76C28209712}"/>
              </a:ext>
            </a:extLst>
          </p:cNvPr>
          <p:cNvSpPr txBox="1"/>
          <p:nvPr/>
        </p:nvSpPr>
        <p:spPr>
          <a:xfrm>
            <a:off x="2202872" y="1487279"/>
            <a:ext cx="9767455" cy="4481676"/>
          </a:xfrm>
          <a:prstGeom prst="rect">
            <a:avLst/>
          </a:prstGeom>
          <a:noFill/>
        </p:spPr>
        <p:txBody>
          <a:bodyPr wrap="square" rtlCol="0">
            <a:spAutoFit/>
          </a:bodyPr>
          <a:lstStyle/>
          <a:p>
            <a:pPr marL="0" indent="0">
              <a:lnSpc>
                <a:spcPct val="107000"/>
              </a:lnSpc>
              <a:spcBef>
                <a:spcPts val="0"/>
              </a:spcBef>
              <a:spcAft>
                <a:spcPts val="800"/>
              </a:spcAft>
              <a:buFont typeface="Wingdings" panose="05000000000000000000" pitchFamily="2" charset="2"/>
              <a:buNone/>
              <a:defRPr/>
            </a:pPr>
            <a:r>
              <a:rPr lang="en-US" sz="1800" dirty="0">
                <a:solidFill>
                  <a:schemeClr val="bg1"/>
                </a:solidFill>
                <a:latin typeface="Times New Roman" panose="02020603050405020304" pitchFamily="18" charset="0"/>
                <a:ea typeface="Calibri" panose="020F0502020204030204" pitchFamily="34" charset="0"/>
                <a:cs typeface="Arial" panose="020B0604020202020204" pitchFamily="34" charset="0"/>
              </a:rPr>
              <a:t>With the continuous growth and development of society, computer technologies and Informational systems are becoming increasingly prominent resources in many aspects of life relating the decision to implement any new project or program must be based on a thorough analysis of current operation system.</a:t>
            </a:r>
            <a:endParaRPr lang="en-US" sz="1800" dirty="0">
              <a:solidFill>
                <a:schemeClr val="bg1"/>
              </a:solidFill>
              <a:latin typeface="Calibri" panose="020F0502020204030204" pitchFamily="34" charset="0"/>
              <a:ea typeface="Calibri" panose="020F0502020204030204" pitchFamily="34" charset="0"/>
              <a:cs typeface="Arial" panose="020B0604020202020204" pitchFamily="34" charset="0"/>
            </a:endParaRPr>
          </a:p>
          <a:p>
            <a:pPr>
              <a:lnSpc>
                <a:spcPct val="200000"/>
              </a:lnSpc>
              <a:spcBef>
                <a:spcPts val="0"/>
              </a:spcBef>
              <a:spcAft>
                <a:spcPts val="800"/>
              </a:spcAft>
              <a:buFont typeface="+mj-lt"/>
              <a:buAutoNum type="arabicPeriod"/>
              <a:tabLst>
                <a:tab pos="457200" algn="l"/>
              </a:tabLst>
              <a:defRPr/>
            </a:pPr>
            <a:r>
              <a:rPr lang="en-US" sz="1800" dirty="0">
                <a:solidFill>
                  <a:schemeClr val="bg1"/>
                </a:solidFill>
                <a:latin typeface="Times New Roman" panose="02020603050405020304" pitchFamily="18" charset="0"/>
                <a:ea typeface="Calibri" panose="020F0502020204030204" pitchFamily="34" charset="0"/>
                <a:cs typeface="Arial" panose="020B0604020202020204" pitchFamily="34" charset="0"/>
              </a:rPr>
              <a:t>Technical feasibility study </a:t>
            </a:r>
            <a:endParaRPr lang="en-US" sz="1800" dirty="0">
              <a:solidFill>
                <a:schemeClr val="bg1"/>
              </a:solidFill>
              <a:latin typeface="Calibri" panose="020F0502020204030204" pitchFamily="34" charset="0"/>
              <a:ea typeface="Calibri" panose="020F0502020204030204" pitchFamily="34" charset="0"/>
              <a:cs typeface="Arial" panose="020B0604020202020204" pitchFamily="34" charset="0"/>
            </a:endParaRPr>
          </a:p>
          <a:p>
            <a:pPr>
              <a:lnSpc>
                <a:spcPct val="200000"/>
              </a:lnSpc>
              <a:spcBef>
                <a:spcPts val="0"/>
              </a:spcBef>
              <a:spcAft>
                <a:spcPts val="800"/>
              </a:spcAft>
              <a:buFont typeface="+mj-lt"/>
              <a:buAutoNum type="arabicPeriod"/>
              <a:tabLst>
                <a:tab pos="457200" algn="l"/>
              </a:tabLst>
              <a:defRPr/>
            </a:pPr>
            <a:r>
              <a:rPr lang="en-US" sz="1800" dirty="0">
                <a:solidFill>
                  <a:schemeClr val="bg1"/>
                </a:solidFill>
                <a:latin typeface="Times New Roman" panose="02020603050405020304" pitchFamily="18" charset="0"/>
                <a:ea typeface="Calibri" panose="020F0502020204030204" pitchFamily="34" charset="0"/>
                <a:cs typeface="Arial" panose="020B0604020202020204" pitchFamily="34" charset="0"/>
              </a:rPr>
              <a:t> Operational feasibility study </a:t>
            </a:r>
            <a:endParaRPr lang="en-US" sz="1800" dirty="0">
              <a:solidFill>
                <a:schemeClr val="bg1"/>
              </a:solidFill>
              <a:latin typeface="Calibri" panose="020F0502020204030204" pitchFamily="34" charset="0"/>
              <a:ea typeface="Calibri" panose="020F0502020204030204" pitchFamily="34" charset="0"/>
              <a:cs typeface="Arial" panose="020B0604020202020204" pitchFamily="34" charset="0"/>
            </a:endParaRPr>
          </a:p>
          <a:p>
            <a:pPr>
              <a:lnSpc>
                <a:spcPct val="200000"/>
              </a:lnSpc>
              <a:spcBef>
                <a:spcPts val="0"/>
              </a:spcBef>
              <a:spcAft>
                <a:spcPts val="800"/>
              </a:spcAft>
              <a:buFont typeface="+mj-lt"/>
              <a:buAutoNum type="arabicPeriod"/>
              <a:tabLst>
                <a:tab pos="457200" algn="l"/>
              </a:tabLst>
              <a:defRPr/>
            </a:pPr>
            <a:r>
              <a:rPr lang="en-US" sz="1800" dirty="0">
                <a:solidFill>
                  <a:schemeClr val="bg1"/>
                </a:solidFill>
                <a:latin typeface="Times New Roman" panose="02020603050405020304" pitchFamily="18" charset="0"/>
                <a:ea typeface="Calibri" panose="020F0502020204030204" pitchFamily="34" charset="0"/>
                <a:cs typeface="Arial" panose="020B0604020202020204" pitchFamily="34" charset="0"/>
              </a:rPr>
              <a:t> Economic feasibility study </a:t>
            </a:r>
            <a:endParaRPr lang="en-US" sz="1800" dirty="0">
              <a:solidFill>
                <a:schemeClr val="bg1"/>
              </a:solidFill>
              <a:latin typeface="Calibri" panose="020F0502020204030204" pitchFamily="34" charset="0"/>
              <a:ea typeface="Calibri" panose="020F0502020204030204" pitchFamily="34" charset="0"/>
              <a:cs typeface="Arial" panose="020B0604020202020204" pitchFamily="34" charset="0"/>
            </a:endParaRPr>
          </a:p>
          <a:p>
            <a:pPr>
              <a:lnSpc>
                <a:spcPct val="200000"/>
              </a:lnSpc>
              <a:spcBef>
                <a:spcPts val="0"/>
              </a:spcBef>
              <a:spcAft>
                <a:spcPts val="800"/>
              </a:spcAft>
              <a:buFont typeface="+mj-lt"/>
              <a:buAutoNum type="arabicPeriod"/>
              <a:tabLst>
                <a:tab pos="457200" algn="l"/>
              </a:tabLst>
              <a:defRPr/>
            </a:pPr>
            <a:r>
              <a:rPr lang="en-US" sz="1800" dirty="0">
                <a:solidFill>
                  <a:schemeClr val="bg1"/>
                </a:solidFill>
                <a:latin typeface="Times New Roman" panose="02020603050405020304" pitchFamily="18" charset="0"/>
                <a:ea typeface="Calibri" panose="020F0502020204030204" pitchFamily="34" charset="0"/>
                <a:cs typeface="Arial" panose="020B0604020202020204" pitchFamily="34" charset="0"/>
              </a:rPr>
              <a:t> Report feasibility study </a:t>
            </a:r>
            <a:endParaRPr lang="en-US" sz="1800" dirty="0">
              <a:solidFill>
                <a:schemeClr val="bg1"/>
              </a:solidFill>
              <a:latin typeface="Calibri" panose="020F0502020204030204" pitchFamily="34" charset="0"/>
              <a:ea typeface="Calibri" panose="020F0502020204030204" pitchFamily="34" charset="0"/>
              <a:cs typeface="Arial" panose="020B0604020202020204" pitchFamily="34" charset="0"/>
            </a:endParaRPr>
          </a:p>
          <a:p>
            <a:pPr>
              <a:lnSpc>
                <a:spcPct val="200000"/>
              </a:lnSpc>
              <a:spcBef>
                <a:spcPts val="0"/>
              </a:spcBef>
              <a:spcAft>
                <a:spcPts val="800"/>
              </a:spcAft>
              <a:buFont typeface="+mj-lt"/>
              <a:buAutoNum type="arabicPeriod"/>
              <a:tabLst>
                <a:tab pos="457200" algn="l"/>
              </a:tabLst>
              <a:defRPr/>
            </a:pPr>
            <a:r>
              <a:rPr lang="en-US" sz="1800" dirty="0">
                <a:solidFill>
                  <a:schemeClr val="bg1"/>
                </a:solidFill>
                <a:latin typeface="Times New Roman" panose="02020603050405020304" pitchFamily="18" charset="0"/>
                <a:ea typeface="Calibri" panose="020F0502020204030204" pitchFamily="34" charset="0"/>
                <a:cs typeface="Arial" panose="020B0604020202020204" pitchFamily="34" charset="0"/>
              </a:rPr>
              <a:t> Schedule feasibility study. </a:t>
            </a:r>
            <a:endParaRPr lang="en-US" sz="1800" dirty="0">
              <a:solidFill>
                <a:schemeClr val="bg1"/>
              </a:solidFill>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8648183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913CD-87C5-4DA9-B4B4-1C2EDB440159}"/>
              </a:ext>
            </a:extLst>
          </p:cNvPr>
          <p:cNvSpPr>
            <a:spLocks noGrp="1"/>
          </p:cNvSpPr>
          <p:nvPr>
            <p:ph type="ctrTitle"/>
          </p:nvPr>
        </p:nvSpPr>
        <p:spPr>
          <a:xfrm>
            <a:off x="3301813" y="301335"/>
            <a:ext cx="7785285" cy="822261"/>
          </a:xfrm>
        </p:spPr>
        <p:txBody>
          <a:bodyPr/>
          <a:lstStyle/>
          <a:p>
            <a:r>
              <a:rPr lang="so-SO" sz="4000" dirty="0">
                <a:solidFill>
                  <a:schemeClr val="bg1"/>
                </a:solidFill>
              </a:rPr>
              <a:t> New Proposed System</a:t>
            </a:r>
            <a:endParaRPr lang="en-US" sz="13800" dirty="0">
              <a:solidFill>
                <a:schemeClr val="bg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7BCC8CAD-B1F2-4F60-8409-A76C28209712}"/>
              </a:ext>
            </a:extLst>
          </p:cNvPr>
          <p:cNvSpPr txBox="1"/>
          <p:nvPr/>
        </p:nvSpPr>
        <p:spPr>
          <a:xfrm>
            <a:off x="1631373" y="1123596"/>
            <a:ext cx="10560627" cy="4247317"/>
          </a:xfrm>
          <a:prstGeom prst="rect">
            <a:avLst/>
          </a:prstGeom>
          <a:noFill/>
        </p:spPr>
        <p:txBody>
          <a:bodyPr wrap="square" rtlCol="0">
            <a:spAutoFit/>
          </a:bodyPr>
          <a:lstStyle/>
          <a:p>
            <a:br>
              <a:rPr lang="so-SO" dirty="0">
                <a:solidFill>
                  <a:schemeClr val="bg1"/>
                </a:solidFill>
              </a:rPr>
            </a:br>
            <a:r>
              <a:rPr lang="en-US" dirty="0">
                <a:solidFill>
                  <a:schemeClr val="bg1"/>
                </a:solidFill>
              </a:rPr>
              <a:t>Our observation case studies were found that mostly was one of the barriers to online shopping adoption has historically been the level of comfort (or should that be discomfort offline system) with technology that causes many consumers’ fears of technology were challenged unexpectedly during the pandemic and, since then, we have witnessed increased ease and adoption.</a:t>
            </a:r>
          </a:p>
          <a:p>
            <a:r>
              <a:rPr lang="en-US" dirty="0">
                <a:solidFill>
                  <a:schemeClr val="bg1"/>
                </a:solidFill>
              </a:rPr>
              <a:t>The new proposed online supermarket management system can be platform of bushiness transaction throughout web portal technology which  discover and be influenced to purchase products attribute or services based on market place recommendations from friends, peers and trusted sources </a:t>
            </a:r>
            <a:r>
              <a:rPr lang="en-US" u="sng" dirty="0">
                <a:solidFill>
                  <a:schemeClr val="bg1"/>
                </a:solidFill>
                <a:hlinkClick r:id="rId2">
                  <a:extLst>
                    <a:ext uri="{A12FA001-AC4F-418D-AE19-62706E023703}">
                      <ahyp:hlinkClr xmlns:ahyp="http://schemas.microsoft.com/office/drawing/2018/hyperlinkcolor" val="tx"/>
                    </a:ext>
                  </a:extLst>
                </a:hlinkClick>
              </a:rPr>
              <a:t>(like influencers)</a:t>
            </a:r>
            <a:r>
              <a:rPr lang="en-US" dirty="0">
                <a:solidFill>
                  <a:schemeClr val="bg1"/>
                </a:solidFill>
              </a:rPr>
              <a:t> on social networks like Facebook, Instagram and Twitter which many social media platforms e-online system  features, such as in-app checkout, stoppable posts and </a:t>
            </a:r>
            <a:r>
              <a:rPr lang="en-US" b="1" dirty="0">
                <a:solidFill>
                  <a:schemeClr val="bg1"/>
                </a:solidFill>
              </a:rPr>
              <a:t>“ view and Buy Now” </a:t>
            </a:r>
            <a:r>
              <a:rPr lang="en-US" dirty="0">
                <a:solidFill>
                  <a:schemeClr val="bg1"/>
                </a:solidFill>
              </a:rPr>
              <a:t>buttons that take users directly to a brand’s product page.</a:t>
            </a:r>
          </a:p>
          <a:p>
            <a:r>
              <a:rPr lang="en-US" dirty="0">
                <a:solidFill>
                  <a:schemeClr val="bg1"/>
                </a:solidFill>
              </a:rPr>
              <a:t>The new proposed system is visible and later, will have its usage of online supermarket management system that is able to shop transaction and records of payment method  banks or EVC-Plus payment of every transaction that entrance has been it registered and. Also, this system will be implemented using PHP as front end and MySQL(</a:t>
            </a:r>
            <a:r>
              <a:rPr lang="en-US" dirty="0" err="1">
                <a:solidFill>
                  <a:schemeClr val="bg1"/>
                </a:solidFill>
              </a:rPr>
              <a:t>Xampp</a:t>
            </a:r>
            <a:r>
              <a:rPr lang="en-US" dirty="0">
                <a:solidFill>
                  <a:schemeClr val="bg1"/>
                </a:solidFill>
              </a:rPr>
              <a:t>) as back end </a:t>
            </a:r>
          </a:p>
        </p:txBody>
      </p:sp>
    </p:spTree>
    <p:extLst>
      <p:ext uri="{BB962C8B-B14F-4D97-AF65-F5344CB8AC3E}">
        <p14:creationId xmlns:p14="http://schemas.microsoft.com/office/powerpoint/2010/main" val="14739116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913CD-87C5-4DA9-B4B4-1C2EDB440159}"/>
              </a:ext>
            </a:extLst>
          </p:cNvPr>
          <p:cNvSpPr>
            <a:spLocks noGrp="1"/>
          </p:cNvSpPr>
          <p:nvPr>
            <p:ph type="ctrTitle"/>
          </p:nvPr>
        </p:nvSpPr>
        <p:spPr>
          <a:xfrm>
            <a:off x="2971726" y="396540"/>
            <a:ext cx="7785285" cy="822261"/>
          </a:xfrm>
        </p:spPr>
        <p:txBody>
          <a:bodyPr/>
          <a:lstStyle/>
          <a:p>
            <a:r>
              <a:rPr lang="so-SO" dirty="0">
                <a:solidFill>
                  <a:schemeClr val="bg1"/>
                </a:solidFill>
              </a:rPr>
              <a:t>Solution Strategy</a:t>
            </a:r>
            <a:endParaRPr lang="en-US" dirty="0">
              <a:solidFill>
                <a:schemeClr val="bg1"/>
              </a:solidFill>
            </a:endParaRPr>
          </a:p>
        </p:txBody>
      </p:sp>
      <p:sp>
        <p:nvSpPr>
          <p:cNvPr id="4" name="TextBox 3">
            <a:extLst>
              <a:ext uri="{FF2B5EF4-FFF2-40B4-BE49-F238E27FC236}">
                <a16:creationId xmlns:a16="http://schemas.microsoft.com/office/drawing/2014/main" id="{7BCC8CAD-B1F2-4F60-8409-A76C28209712}"/>
              </a:ext>
            </a:extLst>
          </p:cNvPr>
          <p:cNvSpPr txBox="1"/>
          <p:nvPr/>
        </p:nvSpPr>
        <p:spPr>
          <a:xfrm>
            <a:off x="2066964" y="1218801"/>
            <a:ext cx="9767455" cy="1477328"/>
          </a:xfrm>
          <a:prstGeom prst="rect">
            <a:avLst/>
          </a:prstGeom>
          <a:noFill/>
        </p:spPr>
        <p:txBody>
          <a:bodyPr wrap="square" rtlCol="0">
            <a:spAutoFit/>
          </a:bodyPr>
          <a:lstStyle/>
          <a:p>
            <a:r>
              <a:rPr lang="so-SO" dirty="0">
                <a:solidFill>
                  <a:schemeClr val="bg1"/>
                </a:solidFill>
              </a:rPr>
              <a:t>After we had discovered the current system’s problems, we decided to develop a new system, which meets the needs of the (Hayat Online Supermarket) This solution is associated with implementing sufficient reliable wedding management system, and wiping out the current existing problems; therefore, we considered the solutions and strategies proposed by experts to reach these goals with qualified programmed system.</a:t>
            </a:r>
            <a:endParaRPr lang="en-US" dirty="0">
              <a:solidFill>
                <a:schemeClr val="bg1"/>
              </a:solidFill>
            </a:endParaRPr>
          </a:p>
        </p:txBody>
      </p:sp>
      <p:graphicFrame>
        <p:nvGraphicFramePr>
          <p:cNvPr id="5" name="Table 4">
            <a:extLst>
              <a:ext uri="{FF2B5EF4-FFF2-40B4-BE49-F238E27FC236}">
                <a16:creationId xmlns:a16="http://schemas.microsoft.com/office/drawing/2014/main" id="{ABE1375C-D07B-6F0C-41FE-C7F1E858AB88}"/>
              </a:ext>
            </a:extLst>
          </p:cNvPr>
          <p:cNvGraphicFramePr>
            <a:graphicFrameLocks noGrp="1"/>
          </p:cNvGraphicFramePr>
          <p:nvPr>
            <p:extLst>
              <p:ext uri="{D42A27DB-BD31-4B8C-83A1-F6EECF244321}">
                <p14:modId xmlns:p14="http://schemas.microsoft.com/office/powerpoint/2010/main" val="1940174259"/>
              </p:ext>
            </p:extLst>
          </p:nvPr>
        </p:nvGraphicFramePr>
        <p:xfrm>
          <a:off x="1980641" y="2817509"/>
          <a:ext cx="9767454" cy="1853076"/>
        </p:xfrm>
        <a:graphic>
          <a:graphicData uri="http://schemas.openxmlformats.org/drawingml/2006/table">
            <a:tbl>
              <a:tblPr firstRow="1" firstCol="1" bandRow="1">
                <a:tableStyleId>{5C22544A-7EE6-4342-B048-85BDC9FD1C3A}</a:tableStyleId>
              </a:tblPr>
              <a:tblGrid>
                <a:gridCol w="1432456">
                  <a:extLst>
                    <a:ext uri="{9D8B030D-6E8A-4147-A177-3AD203B41FA5}">
                      <a16:colId xmlns:a16="http://schemas.microsoft.com/office/drawing/2014/main" val="2236151236"/>
                    </a:ext>
                  </a:extLst>
                </a:gridCol>
                <a:gridCol w="6363002">
                  <a:extLst>
                    <a:ext uri="{9D8B030D-6E8A-4147-A177-3AD203B41FA5}">
                      <a16:colId xmlns:a16="http://schemas.microsoft.com/office/drawing/2014/main" val="2127987922"/>
                    </a:ext>
                  </a:extLst>
                </a:gridCol>
                <a:gridCol w="1971996">
                  <a:extLst>
                    <a:ext uri="{9D8B030D-6E8A-4147-A177-3AD203B41FA5}">
                      <a16:colId xmlns:a16="http://schemas.microsoft.com/office/drawing/2014/main" val="2179180070"/>
                    </a:ext>
                  </a:extLst>
                </a:gridCol>
              </a:tblGrid>
              <a:tr h="615098">
                <a:tc>
                  <a:txBody>
                    <a:bodyPr/>
                    <a:lstStyle/>
                    <a:p>
                      <a:pPr marL="0" marR="0" algn="just">
                        <a:lnSpc>
                          <a:spcPct val="107000"/>
                        </a:lnSpc>
                        <a:spcAft>
                          <a:spcPts val="800"/>
                        </a:spcAft>
                        <a:buNone/>
                      </a:pPr>
                      <a:r>
                        <a:rPr lang="en-MY" sz="1200" kern="100">
                          <a:effectLst/>
                        </a:rPr>
                        <a:t>No </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Aft>
                          <a:spcPts val="800"/>
                        </a:spcAft>
                        <a:buNone/>
                        <a:tabLst>
                          <a:tab pos="342900" algn="l"/>
                          <a:tab pos="457200" algn="l"/>
                        </a:tabLst>
                      </a:pPr>
                      <a:r>
                        <a:rPr lang="so-SO" sz="1200" kern="100" dirty="0">
                          <a:effectLst/>
                        </a:rPr>
                        <a:t>Programming</a:t>
                      </a:r>
                      <a:r>
                        <a:rPr lang="en-MY" sz="1200" kern="100" dirty="0">
                          <a:effectLst/>
                        </a:rPr>
                        <a:t> Criteria implementation </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Aft>
                          <a:spcPts val="800"/>
                        </a:spcAft>
                        <a:buNone/>
                      </a:pPr>
                      <a:r>
                        <a:rPr lang="en-MY" sz="1200" kern="100">
                          <a:effectLst/>
                        </a:rPr>
                        <a:t>Selected choice</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84577266"/>
                  </a:ext>
                </a:extLst>
              </a:tr>
              <a:tr h="606364">
                <a:tc>
                  <a:txBody>
                    <a:bodyPr/>
                    <a:lstStyle/>
                    <a:p>
                      <a:pPr marL="0" marR="0" algn="just">
                        <a:lnSpc>
                          <a:spcPct val="107000"/>
                        </a:lnSpc>
                        <a:spcAft>
                          <a:spcPts val="800"/>
                        </a:spcAft>
                        <a:buNone/>
                      </a:pPr>
                      <a:r>
                        <a:rPr lang="en-MY" sz="1200" kern="100">
                          <a:effectLst/>
                        </a:rPr>
                        <a:t>Option 1 </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Aft>
                          <a:spcPts val="800"/>
                        </a:spcAft>
                        <a:buNone/>
                        <a:tabLst>
                          <a:tab pos="342900" algn="l"/>
                          <a:tab pos="457200" algn="l"/>
                        </a:tabLst>
                      </a:pPr>
                      <a:r>
                        <a:rPr lang="en-MY" sz="1200" kern="100">
                          <a:effectLst/>
                        </a:rPr>
                        <a:t>JAVA with ANDROID and PHP with MYSQL</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Aft>
                          <a:spcPts val="800"/>
                        </a:spcAft>
                        <a:buNone/>
                      </a:pPr>
                      <a:r>
                        <a:rPr lang="en-MY" sz="1200" kern="100">
                          <a:effectLst/>
                        </a:rPr>
                        <a:t>Best option</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38135065"/>
                  </a:ext>
                </a:extLst>
              </a:tr>
              <a:tr h="315807">
                <a:tc>
                  <a:txBody>
                    <a:bodyPr/>
                    <a:lstStyle/>
                    <a:p>
                      <a:pPr marL="0" marR="0" algn="just">
                        <a:lnSpc>
                          <a:spcPct val="107000"/>
                        </a:lnSpc>
                        <a:spcAft>
                          <a:spcPts val="800"/>
                        </a:spcAft>
                        <a:buNone/>
                      </a:pPr>
                      <a:r>
                        <a:rPr lang="en-MY" sz="1200" kern="100">
                          <a:effectLst/>
                        </a:rPr>
                        <a:t>Option 2</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Aft>
                          <a:spcPts val="800"/>
                        </a:spcAft>
                        <a:buNone/>
                        <a:tabLst>
                          <a:tab pos="342900" algn="l"/>
                          <a:tab pos="457200" algn="l"/>
                        </a:tabLst>
                      </a:pPr>
                      <a:r>
                        <a:rPr lang="en-MY" sz="1200" kern="100">
                          <a:effectLst/>
                        </a:rPr>
                        <a:t>ASP.net with Oracle</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Aft>
                          <a:spcPts val="800"/>
                        </a:spcAft>
                        <a:buNone/>
                      </a:pPr>
                      <a:r>
                        <a:rPr lang="en-MY" sz="1200" kern="100">
                          <a:effectLst/>
                        </a:rPr>
                        <a:t>Second option </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88268487"/>
                  </a:ext>
                </a:extLst>
              </a:tr>
              <a:tr h="315807">
                <a:tc>
                  <a:txBody>
                    <a:bodyPr/>
                    <a:lstStyle/>
                    <a:p>
                      <a:pPr marL="0" marR="0" algn="just">
                        <a:lnSpc>
                          <a:spcPct val="107000"/>
                        </a:lnSpc>
                        <a:spcAft>
                          <a:spcPts val="800"/>
                        </a:spcAft>
                        <a:buNone/>
                      </a:pPr>
                      <a:r>
                        <a:rPr lang="en-MY" sz="1200" kern="100">
                          <a:effectLst/>
                        </a:rPr>
                        <a:t>Option 3. </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Aft>
                          <a:spcPts val="800"/>
                        </a:spcAft>
                        <a:buNone/>
                        <a:tabLst>
                          <a:tab pos="342900" algn="l"/>
                          <a:tab pos="457200" algn="l"/>
                        </a:tabLst>
                      </a:pPr>
                      <a:r>
                        <a:rPr lang="en-MY" sz="1200" kern="100">
                          <a:effectLst/>
                        </a:rPr>
                        <a:t>PHP with Mysql</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07000"/>
                        </a:lnSpc>
                        <a:spcAft>
                          <a:spcPts val="800"/>
                        </a:spcAft>
                        <a:buNone/>
                      </a:pPr>
                      <a:r>
                        <a:rPr lang="en-MY" sz="1200" kern="100" dirty="0">
                          <a:effectLst/>
                        </a:rPr>
                        <a:t>Third option</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63210207"/>
                  </a:ext>
                </a:extLst>
              </a:tr>
            </a:tbl>
          </a:graphicData>
        </a:graphic>
      </p:graphicFrame>
    </p:spTree>
    <p:extLst>
      <p:ext uri="{BB962C8B-B14F-4D97-AF65-F5344CB8AC3E}">
        <p14:creationId xmlns:p14="http://schemas.microsoft.com/office/powerpoint/2010/main" val="31538099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2603C-4D5C-EE9F-1E62-00E151D0D3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8C20E3-7C1E-2DBB-D6E4-9CB57FD21437}"/>
              </a:ext>
            </a:extLst>
          </p:cNvPr>
          <p:cNvSpPr>
            <a:spLocks noGrp="1"/>
          </p:cNvSpPr>
          <p:nvPr>
            <p:ph type="ctrTitle"/>
          </p:nvPr>
        </p:nvSpPr>
        <p:spPr>
          <a:xfrm>
            <a:off x="989557" y="396540"/>
            <a:ext cx="10758537" cy="822261"/>
          </a:xfrm>
        </p:spPr>
        <p:txBody>
          <a:bodyPr/>
          <a:lstStyle/>
          <a:p>
            <a:r>
              <a:rPr lang="en-US" dirty="0">
                <a:solidFill>
                  <a:schemeClr val="bg1"/>
                </a:solidFill>
                <a:latin typeface="Times New Roman" panose="02020603050405020304" pitchFamily="18" charset="0"/>
                <a:cs typeface="Times New Roman" panose="02020603050405020304" pitchFamily="18" charset="0"/>
              </a:rPr>
              <a:t>Chapter IV- System Design</a:t>
            </a:r>
            <a:endParaRPr lang="en-US" dirty="0">
              <a:solidFill>
                <a:schemeClr val="bg1"/>
              </a:solidFill>
            </a:endParaRPr>
          </a:p>
        </p:txBody>
      </p:sp>
      <p:sp>
        <p:nvSpPr>
          <p:cNvPr id="4" name="TextBox 3">
            <a:extLst>
              <a:ext uri="{FF2B5EF4-FFF2-40B4-BE49-F238E27FC236}">
                <a16:creationId xmlns:a16="http://schemas.microsoft.com/office/drawing/2014/main" id="{2EE564D1-A68A-135D-B64F-9A99D19E9502}"/>
              </a:ext>
            </a:extLst>
          </p:cNvPr>
          <p:cNvSpPr txBox="1"/>
          <p:nvPr/>
        </p:nvSpPr>
        <p:spPr>
          <a:xfrm>
            <a:off x="2163218" y="1748190"/>
            <a:ext cx="6230770" cy="1815882"/>
          </a:xfrm>
          <a:prstGeom prst="rect">
            <a:avLst/>
          </a:prstGeom>
          <a:noFill/>
        </p:spPr>
        <p:txBody>
          <a:bodyPr wrap="square" rtlCol="0">
            <a:spAutoFit/>
          </a:bodyPr>
          <a:lstStyle/>
          <a:p>
            <a:r>
              <a:rPr lang="en-US" sz="2800" b="1" dirty="0">
                <a:solidFill>
                  <a:schemeClr val="bg1"/>
                </a:solidFill>
                <a:latin typeface="Times New Roman" panose="02020603050405020304" pitchFamily="18" charset="0"/>
                <a:cs typeface="Times New Roman" panose="02020603050405020304" pitchFamily="18" charset="0"/>
              </a:rPr>
              <a:t>1.Database design</a:t>
            </a:r>
          </a:p>
          <a:p>
            <a:r>
              <a:rPr lang="en-US" sz="2800" b="1" dirty="0">
                <a:solidFill>
                  <a:schemeClr val="bg1"/>
                </a:solidFill>
                <a:latin typeface="Times New Roman" panose="02020603050405020304" pitchFamily="18" charset="0"/>
                <a:cs typeface="Times New Roman" panose="02020603050405020304" pitchFamily="18" charset="0"/>
              </a:rPr>
              <a:t>2.Entity relationship Diagram (ERD)</a:t>
            </a:r>
          </a:p>
          <a:p>
            <a:r>
              <a:rPr lang="en-US" sz="2800" b="1" dirty="0">
                <a:solidFill>
                  <a:schemeClr val="bg1"/>
                </a:solidFill>
                <a:latin typeface="Times New Roman" panose="02020603050405020304" pitchFamily="18" charset="0"/>
                <a:cs typeface="Times New Roman" panose="02020603050405020304" pitchFamily="18" charset="0"/>
              </a:rPr>
              <a:t>3.Table design</a:t>
            </a:r>
          </a:p>
          <a:p>
            <a:endParaRPr lang="en-US" sz="2800" b="1" dirty="0">
              <a:solidFill>
                <a:schemeClr val="bg1"/>
              </a:solidFill>
            </a:endParaRPr>
          </a:p>
        </p:txBody>
      </p:sp>
    </p:spTree>
    <p:extLst>
      <p:ext uri="{BB962C8B-B14F-4D97-AF65-F5344CB8AC3E}">
        <p14:creationId xmlns:p14="http://schemas.microsoft.com/office/powerpoint/2010/main" val="8165814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913CD-87C5-4DA9-B4B4-1C2EDB440159}"/>
              </a:ext>
            </a:extLst>
          </p:cNvPr>
          <p:cNvSpPr>
            <a:spLocks noGrp="1"/>
          </p:cNvSpPr>
          <p:nvPr>
            <p:ph type="ctrTitle"/>
          </p:nvPr>
        </p:nvSpPr>
        <p:spPr>
          <a:xfrm>
            <a:off x="3469079" y="183082"/>
            <a:ext cx="6147532" cy="822261"/>
          </a:xfrm>
        </p:spPr>
        <p:txBody>
          <a:bodyPr/>
          <a:lstStyle/>
          <a:p>
            <a:r>
              <a:rPr lang="en-US" sz="5400" dirty="0">
                <a:solidFill>
                  <a:schemeClr val="bg1"/>
                </a:solidFill>
              </a:rPr>
              <a:t>Database design</a:t>
            </a:r>
          </a:p>
        </p:txBody>
      </p:sp>
      <p:pic>
        <p:nvPicPr>
          <p:cNvPr id="5" name="Picture 4">
            <a:extLst>
              <a:ext uri="{FF2B5EF4-FFF2-40B4-BE49-F238E27FC236}">
                <a16:creationId xmlns:a16="http://schemas.microsoft.com/office/drawing/2014/main" id="{C9C4905C-E63C-D902-A1F2-A954622CD627}"/>
              </a:ext>
            </a:extLst>
          </p:cNvPr>
          <p:cNvPicPr>
            <a:picLocks noChangeAspect="1"/>
          </p:cNvPicPr>
          <p:nvPr/>
        </p:nvPicPr>
        <p:blipFill>
          <a:blip r:embed="rId2"/>
          <a:stretch>
            <a:fillRect/>
          </a:stretch>
        </p:blipFill>
        <p:spPr>
          <a:xfrm>
            <a:off x="1692048" y="1228485"/>
            <a:ext cx="8807903" cy="5181866"/>
          </a:xfrm>
          <a:prstGeom prst="rect">
            <a:avLst/>
          </a:prstGeom>
        </p:spPr>
      </p:pic>
    </p:spTree>
    <p:extLst>
      <p:ext uri="{BB962C8B-B14F-4D97-AF65-F5344CB8AC3E}">
        <p14:creationId xmlns:p14="http://schemas.microsoft.com/office/powerpoint/2010/main" val="4636465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1F426-4B31-53A3-6307-4F66853781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204C27-8E70-E851-A7B5-8BA3E2F1AC8A}"/>
              </a:ext>
            </a:extLst>
          </p:cNvPr>
          <p:cNvSpPr>
            <a:spLocks noGrp="1"/>
          </p:cNvSpPr>
          <p:nvPr>
            <p:ph type="ctrTitle"/>
          </p:nvPr>
        </p:nvSpPr>
        <p:spPr>
          <a:xfrm>
            <a:off x="636999" y="131711"/>
            <a:ext cx="11301572" cy="822261"/>
          </a:xfrm>
        </p:spPr>
        <p:txBody>
          <a:bodyPr/>
          <a:lstStyle/>
          <a:p>
            <a:r>
              <a:rPr lang="en-US" sz="4000" dirty="0">
                <a:solidFill>
                  <a:schemeClr val="bg1"/>
                </a:solidFill>
                <a:latin typeface="Times New Roman" panose="02020603050405020304" pitchFamily="18" charset="0"/>
                <a:ea typeface="Calibri" panose="020F0502020204030204" pitchFamily="34" charset="0"/>
                <a:cs typeface="Arial" panose="020B0604020202020204" pitchFamily="34" charset="0"/>
              </a:rPr>
              <a:t>ENTITY RELATIONSHIP DIAGRAM (ERD)</a:t>
            </a:r>
            <a:endParaRPr lang="en-US" sz="4000" dirty="0">
              <a:solidFill>
                <a:schemeClr val="bg1"/>
              </a:solidFill>
            </a:endParaRPr>
          </a:p>
        </p:txBody>
      </p:sp>
      <p:pic>
        <p:nvPicPr>
          <p:cNvPr id="5" name="Picture 4">
            <a:extLst>
              <a:ext uri="{FF2B5EF4-FFF2-40B4-BE49-F238E27FC236}">
                <a16:creationId xmlns:a16="http://schemas.microsoft.com/office/drawing/2014/main" id="{50374C66-35F1-3EA0-328B-DF1DB5F87AA8}"/>
              </a:ext>
            </a:extLst>
          </p:cNvPr>
          <p:cNvPicPr>
            <a:picLocks noChangeAspect="1"/>
          </p:cNvPicPr>
          <p:nvPr/>
        </p:nvPicPr>
        <p:blipFill>
          <a:blip r:embed="rId2"/>
          <a:stretch>
            <a:fillRect/>
          </a:stretch>
        </p:blipFill>
        <p:spPr>
          <a:xfrm>
            <a:off x="1692048" y="1228485"/>
            <a:ext cx="8807903" cy="5181866"/>
          </a:xfrm>
          <a:prstGeom prst="rect">
            <a:avLst/>
          </a:prstGeom>
        </p:spPr>
      </p:pic>
    </p:spTree>
    <p:extLst>
      <p:ext uri="{BB962C8B-B14F-4D97-AF65-F5344CB8AC3E}">
        <p14:creationId xmlns:p14="http://schemas.microsoft.com/office/powerpoint/2010/main" val="12789886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690D5-13CF-2ABE-3A75-8CEC6E76AB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D59C20-C31A-1B1B-49A0-355DF2A17191}"/>
              </a:ext>
            </a:extLst>
          </p:cNvPr>
          <p:cNvSpPr>
            <a:spLocks noGrp="1"/>
          </p:cNvSpPr>
          <p:nvPr>
            <p:ph type="ctrTitle"/>
          </p:nvPr>
        </p:nvSpPr>
        <p:spPr>
          <a:xfrm>
            <a:off x="4109665" y="36518"/>
            <a:ext cx="3616502" cy="822261"/>
          </a:xfrm>
        </p:spPr>
        <p:txBody>
          <a:bodyPr/>
          <a:lstStyle/>
          <a:p>
            <a:r>
              <a:rPr lang="en-US" sz="4000" dirty="0">
                <a:solidFill>
                  <a:schemeClr val="bg1"/>
                </a:solidFill>
                <a:latin typeface="Times New Roman" panose="02020603050405020304" pitchFamily="18" charset="0"/>
                <a:cs typeface="Times New Roman" panose="02020603050405020304" pitchFamily="18" charset="0"/>
              </a:rPr>
              <a:t>Table design</a:t>
            </a:r>
            <a:endParaRPr lang="en-US" sz="4000" dirty="0">
              <a:solidFill>
                <a:schemeClr val="bg1"/>
              </a:solidFill>
            </a:endParaRPr>
          </a:p>
        </p:txBody>
      </p:sp>
      <p:pic>
        <p:nvPicPr>
          <p:cNvPr id="4" name="Picture 3">
            <a:extLst>
              <a:ext uri="{FF2B5EF4-FFF2-40B4-BE49-F238E27FC236}">
                <a16:creationId xmlns:a16="http://schemas.microsoft.com/office/drawing/2014/main" id="{2CA0CC84-987E-2C35-4071-648BFB06E1F8}"/>
              </a:ext>
            </a:extLst>
          </p:cNvPr>
          <p:cNvPicPr>
            <a:picLocks noChangeAspect="1"/>
          </p:cNvPicPr>
          <p:nvPr/>
        </p:nvPicPr>
        <p:blipFill>
          <a:blip r:embed="rId2"/>
          <a:stretch>
            <a:fillRect/>
          </a:stretch>
        </p:blipFill>
        <p:spPr>
          <a:xfrm>
            <a:off x="1351507" y="1037973"/>
            <a:ext cx="8746686" cy="5511801"/>
          </a:xfrm>
          <a:prstGeom prst="rect">
            <a:avLst/>
          </a:prstGeom>
        </p:spPr>
      </p:pic>
    </p:spTree>
    <p:extLst>
      <p:ext uri="{BB962C8B-B14F-4D97-AF65-F5344CB8AC3E}">
        <p14:creationId xmlns:p14="http://schemas.microsoft.com/office/powerpoint/2010/main" val="21158652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A4F63-CF6F-CFAC-5C37-C2B4FA0749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CF3BD5-C1C2-C5A6-4796-6247B15A15E3}"/>
              </a:ext>
            </a:extLst>
          </p:cNvPr>
          <p:cNvSpPr>
            <a:spLocks noGrp="1"/>
          </p:cNvSpPr>
          <p:nvPr>
            <p:ph type="ctrTitle"/>
          </p:nvPr>
        </p:nvSpPr>
        <p:spPr>
          <a:xfrm>
            <a:off x="3469079" y="183082"/>
            <a:ext cx="4948569" cy="822261"/>
          </a:xfrm>
        </p:spPr>
        <p:txBody>
          <a:bodyPr/>
          <a:lstStyle/>
          <a:p>
            <a:r>
              <a:rPr lang="en-US" sz="5400" dirty="0">
                <a:solidFill>
                  <a:schemeClr val="bg1"/>
                </a:solidFill>
              </a:rPr>
              <a:t>Chapter 5</a:t>
            </a:r>
          </a:p>
        </p:txBody>
      </p:sp>
      <p:pic>
        <p:nvPicPr>
          <p:cNvPr id="5" name="Picture 4">
            <a:extLst>
              <a:ext uri="{FF2B5EF4-FFF2-40B4-BE49-F238E27FC236}">
                <a16:creationId xmlns:a16="http://schemas.microsoft.com/office/drawing/2014/main" id="{D3B01401-784C-3CEA-C7E3-A4FC7BBDA5E6}"/>
              </a:ext>
            </a:extLst>
          </p:cNvPr>
          <p:cNvPicPr>
            <a:picLocks noChangeAspect="1"/>
          </p:cNvPicPr>
          <p:nvPr/>
        </p:nvPicPr>
        <p:blipFill>
          <a:blip r:embed="rId2"/>
          <a:stretch>
            <a:fillRect/>
          </a:stretch>
        </p:blipFill>
        <p:spPr>
          <a:xfrm>
            <a:off x="1399165" y="2513276"/>
            <a:ext cx="8453752" cy="3848107"/>
          </a:xfrm>
          <a:prstGeom prst="rect">
            <a:avLst/>
          </a:prstGeom>
        </p:spPr>
      </p:pic>
      <p:sp>
        <p:nvSpPr>
          <p:cNvPr id="6" name="Title 1">
            <a:extLst>
              <a:ext uri="{FF2B5EF4-FFF2-40B4-BE49-F238E27FC236}">
                <a16:creationId xmlns:a16="http://schemas.microsoft.com/office/drawing/2014/main" id="{61BBB5DA-B246-F187-217B-AE0859FC6D9F}"/>
              </a:ext>
            </a:extLst>
          </p:cNvPr>
          <p:cNvSpPr txBox="1">
            <a:spLocks/>
          </p:cNvSpPr>
          <p:nvPr/>
        </p:nvSpPr>
        <p:spPr>
          <a:xfrm>
            <a:off x="4025596" y="1163245"/>
            <a:ext cx="2070404" cy="822261"/>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lang="en-GB" sz="6600" b="1" kern="1200" dirty="0">
                <a:solidFill>
                  <a:schemeClr val="accent2"/>
                </a:solidFill>
                <a:latin typeface="+mj-lt"/>
                <a:ea typeface="Tahoma" panose="020B0604030504040204" pitchFamily="34" charset="0"/>
                <a:cs typeface="Tahoma" panose="020B0604030504040204" pitchFamily="34" charset="0"/>
              </a:defRPr>
            </a:lvl1pPr>
          </a:lstStyle>
          <a:p>
            <a:r>
              <a:rPr lang="en-US" sz="5400" dirty="0">
                <a:solidFill>
                  <a:schemeClr val="bg1"/>
                </a:solidFill>
              </a:rPr>
              <a:t>Login</a:t>
            </a:r>
          </a:p>
        </p:txBody>
      </p:sp>
    </p:spTree>
    <p:extLst>
      <p:ext uri="{BB962C8B-B14F-4D97-AF65-F5344CB8AC3E}">
        <p14:creationId xmlns:p14="http://schemas.microsoft.com/office/powerpoint/2010/main" val="4216450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43E1CA-76D2-DF8F-6ABE-07128DD093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4551A0-418E-1541-7DD0-8CFF83EDFA19}"/>
              </a:ext>
            </a:extLst>
          </p:cNvPr>
          <p:cNvSpPr>
            <a:spLocks noGrp="1"/>
          </p:cNvSpPr>
          <p:nvPr>
            <p:ph type="ctrTitle"/>
          </p:nvPr>
        </p:nvSpPr>
        <p:spPr>
          <a:xfrm>
            <a:off x="2496620" y="282245"/>
            <a:ext cx="8188504" cy="822261"/>
          </a:xfrm>
        </p:spPr>
        <p:txBody>
          <a:bodyPr/>
          <a:lstStyle/>
          <a:p>
            <a:r>
              <a:rPr lang="en-US" sz="5400" dirty="0">
                <a:solidFill>
                  <a:schemeClr val="bg1"/>
                </a:solidFill>
                <a:latin typeface="Times New Roman" panose="02020603050405020304" pitchFamily="18" charset="0"/>
                <a:cs typeface="Times New Roman" panose="02020603050405020304" pitchFamily="18" charset="0"/>
              </a:rPr>
              <a:t>Home Page of Admin</a:t>
            </a:r>
            <a:endParaRPr lang="en-US" sz="5400" dirty="0">
              <a:solidFill>
                <a:schemeClr val="bg1"/>
              </a:solidFill>
            </a:endParaRPr>
          </a:p>
        </p:txBody>
      </p:sp>
      <p:pic>
        <p:nvPicPr>
          <p:cNvPr id="4" name="Picture 3">
            <a:extLst>
              <a:ext uri="{FF2B5EF4-FFF2-40B4-BE49-F238E27FC236}">
                <a16:creationId xmlns:a16="http://schemas.microsoft.com/office/drawing/2014/main" id="{DC17C164-AAE5-13E7-5459-2B7464E979CC}"/>
              </a:ext>
            </a:extLst>
          </p:cNvPr>
          <p:cNvPicPr>
            <a:picLocks noChangeAspect="1"/>
          </p:cNvPicPr>
          <p:nvPr/>
        </p:nvPicPr>
        <p:blipFill>
          <a:blip r:embed="rId2"/>
          <a:stretch>
            <a:fillRect/>
          </a:stretch>
        </p:blipFill>
        <p:spPr>
          <a:xfrm>
            <a:off x="673857" y="2143408"/>
            <a:ext cx="11018134" cy="4021216"/>
          </a:xfrm>
          <a:prstGeom prst="rect">
            <a:avLst/>
          </a:prstGeom>
        </p:spPr>
      </p:pic>
    </p:spTree>
    <p:extLst>
      <p:ext uri="{BB962C8B-B14F-4D97-AF65-F5344CB8AC3E}">
        <p14:creationId xmlns:p14="http://schemas.microsoft.com/office/powerpoint/2010/main" val="21224515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B0F75-2B13-F071-C41F-0CB5BBC739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8CADB3-FE91-2377-A41C-1A4DD2CCBDEB}"/>
              </a:ext>
            </a:extLst>
          </p:cNvPr>
          <p:cNvSpPr>
            <a:spLocks noGrp="1"/>
          </p:cNvSpPr>
          <p:nvPr>
            <p:ph type="ctrTitle"/>
          </p:nvPr>
        </p:nvSpPr>
        <p:spPr>
          <a:xfrm>
            <a:off x="804809" y="0"/>
            <a:ext cx="10582381" cy="822261"/>
          </a:xfrm>
        </p:spPr>
        <p:txBody>
          <a:bodyPr/>
          <a:lstStyle/>
          <a:p>
            <a:r>
              <a:rPr lang="en-US" sz="4000" dirty="0">
                <a:solidFill>
                  <a:schemeClr val="bg1"/>
                </a:solidFill>
              </a:rPr>
              <a:t>Chapter VI- Conclusion &amp; Recommendation</a:t>
            </a:r>
          </a:p>
        </p:txBody>
      </p:sp>
      <p:sp>
        <p:nvSpPr>
          <p:cNvPr id="6" name="Text Placeholder 1">
            <a:extLst>
              <a:ext uri="{FF2B5EF4-FFF2-40B4-BE49-F238E27FC236}">
                <a16:creationId xmlns:a16="http://schemas.microsoft.com/office/drawing/2014/main" id="{1EA122EE-0712-440E-9643-0A7D9875D431}"/>
              </a:ext>
            </a:extLst>
          </p:cNvPr>
          <p:cNvSpPr>
            <a:spLocks noGrp="1"/>
          </p:cNvSpPr>
          <p:nvPr/>
        </p:nvSpPr>
        <p:spPr>
          <a:xfrm>
            <a:off x="536054" y="1243172"/>
            <a:ext cx="11248404" cy="494785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Clr>
                <a:schemeClr val="accent2"/>
              </a:buClr>
              <a:buFont typeface="Arial" panose="020B0604020202020204" pitchFamily="34" charset="0"/>
              <a:buNone/>
              <a:defRPr lang="en-US" sz="1600" kern="1200" spc="300">
                <a:solidFill>
                  <a:schemeClr val="accent1">
                    <a:lumMod val="20000"/>
                    <a:lumOff val="80000"/>
                  </a:schemeClr>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800" b="1" dirty="0">
                <a:solidFill>
                  <a:schemeClr val="bg1"/>
                </a:solidFill>
                <a:latin typeface="Times New Roman" panose="02020603050405020304" pitchFamily="18" charset="0"/>
                <a:cs typeface="Times New Roman" panose="02020603050405020304" pitchFamily="18" charset="0"/>
              </a:rPr>
              <a:t>Conclusion</a:t>
            </a:r>
          </a:p>
          <a:p>
            <a:r>
              <a:rPr lang="en-US" sz="24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1.Achievements:</a:t>
            </a:r>
          </a:p>
          <a:p>
            <a:endParaRPr lang="en-US" sz="24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r>
              <a:rPr lang="en-US" dirty="0">
                <a:solidFill>
                  <a:schemeClr val="bg1"/>
                </a:solidFill>
              </a:rPr>
              <a:t>The </a:t>
            </a:r>
            <a:r>
              <a:rPr lang="en-US" b="1" dirty="0">
                <a:solidFill>
                  <a:schemeClr val="bg1"/>
                </a:solidFill>
              </a:rPr>
              <a:t>Supermarket Management System (SMS)</a:t>
            </a:r>
            <a:r>
              <a:rPr lang="en-US" dirty="0">
                <a:solidFill>
                  <a:schemeClr val="bg1"/>
                </a:solidFill>
              </a:rPr>
              <a:t> is a sophisticated solution that automates the process of managing orders, reservations, and inventory. By digitizing the traditional ordering process, SMS not only makes the operations more efficient but also provides customers with a streamlined and modern experience. It improves overall supermarket operations, reduces errors, enhances customer satisfaction, and saves time for both customers and staff.</a:t>
            </a:r>
          </a:p>
          <a:p>
            <a:r>
              <a:rPr lang="en-US" dirty="0">
                <a:solidFill>
                  <a:schemeClr val="bg1"/>
                </a:solidFill>
              </a:rPr>
              <a:t>SMS offers a web-based platform that gives supermarket owners a comprehensive tool to manage inventory, track sales, and interact with customers. The easy-to-use interface and automated functions reduce wait times, optimize stock availability, and ensure customers can quickly find and purchase what they need.</a:t>
            </a:r>
          </a:p>
        </p:txBody>
      </p:sp>
    </p:spTree>
    <p:extLst>
      <p:ext uri="{BB962C8B-B14F-4D97-AF65-F5344CB8AC3E}">
        <p14:creationId xmlns:p14="http://schemas.microsoft.com/office/powerpoint/2010/main" val="5979508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735FB-C514-0563-BC55-05BB89A8FD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DBDB9B-8D1A-C2E5-E438-3D2792764EC8}"/>
              </a:ext>
            </a:extLst>
          </p:cNvPr>
          <p:cNvSpPr>
            <a:spLocks noGrp="1"/>
          </p:cNvSpPr>
          <p:nvPr>
            <p:ph type="ctrTitle"/>
          </p:nvPr>
        </p:nvSpPr>
        <p:spPr>
          <a:xfrm>
            <a:off x="804809" y="0"/>
            <a:ext cx="10582381" cy="822261"/>
          </a:xfrm>
        </p:spPr>
        <p:txBody>
          <a:bodyPr/>
          <a:lstStyle/>
          <a:p>
            <a:r>
              <a:rPr lang="en-US" sz="4000" dirty="0" err="1">
                <a:solidFill>
                  <a:schemeClr val="bg1"/>
                </a:solidFill>
              </a:rPr>
              <a:t>Contunue</a:t>
            </a:r>
            <a:r>
              <a:rPr lang="en-US" sz="4000" dirty="0">
                <a:solidFill>
                  <a:schemeClr val="bg1"/>
                </a:solidFill>
              </a:rPr>
              <a:t>………</a:t>
            </a:r>
          </a:p>
        </p:txBody>
      </p:sp>
      <p:sp>
        <p:nvSpPr>
          <p:cNvPr id="6" name="Text Placeholder 1">
            <a:extLst>
              <a:ext uri="{FF2B5EF4-FFF2-40B4-BE49-F238E27FC236}">
                <a16:creationId xmlns:a16="http://schemas.microsoft.com/office/drawing/2014/main" id="{CDC1EF90-76D0-E377-AEBF-FF69C3F6EDC7}"/>
              </a:ext>
            </a:extLst>
          </p:cNvPr>
          <p:cNvSpPr>
            <a:spLocks noGrp="1"/>
          </p:cNvSpPr>
          <p:nvPr/>
        </p:nvSpPr>
        <p:spPr>
          <a:xfrm>
            <a:off x="536054" y="1243172"/>
            <a:ext cx="11248404" cy="494785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Clr>
                <a:schemeClr val="accent2"/>
              </a:buClr>
              <a:buFont typeface="Arial" panose="020B0604020202020204" pitchFamily="34" charset="0"/>
              <a:buNone/>
              <a:defRPr lang="en-US" sz="1600" kern="1200" spc="300">
                <a:solidFill>
                  <a:schemeClr val="accent1">
                    <a:lumMod val="20000"/>
                    <a:lumOff val="80000"/>
                  </a:schemeClr>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r>
              <a:rPr lang="en-US" dirty="0">
                <a:solidFill>
                  <a:schemeClr val="bg1"/>
                </a:solidFill>
              </a:rPr>
              <a:t>While the </a:t>
            </a:r>
            <a:r>
              <a:rPr lang="en-US" b="1" dirty="0">
                <a:solidFill>
                  <a:schemeClr val="bg1"/>
                </a:solidFill>
              </a:rPr>
              <a:t>Supermarket Management System</a:t>
            </a:r>
            <a:r>
              <a:rPr lang="en-US" dirty="0">
                <a:solidFill>
                  <a:schemeClr val="bg1"/>
                </a:solidFill>
              </a:rPr>
              <a:t> provides numerous benefits, there are certain limitations that need to be considered:</a:t>
            </a:r>
          </a:p>
          <a:p>
            <a:pPr lvl="0"/>
            <a:r>
              <a:rPr lang="en-US" b="1" dirty="0">
                <a:solidFill>
                  <a:schemeClr val="bg1"/>
                </a:solidFill>
              </a:rPr>
              <a:t>Dependency on Technology:</a:t>
            </a:r>
            <a:r>
              <a:rPr lang="en-US" dirty="0">
                <a:solidFill>
                  <a:schemeClr val="bg1"/>
                </a:solidFill>
              </a:rPr>
              <a:t> The system relies on internet connectivity and software functionality, meaning technical issues (such as server downtime or connectivity problems) could disrupt operations.</a:t>
            </a:r>
          </a:p>
          <a:p>
            <a:pPr lvl="0"/>
            <a:r>
              <a:rPr lang="en-US" b="1" dirty="0">
                <a:solidFill>
                  <a:schemeClr val="bg1"/>
                </a:solidFill>
              </a:rPr>
              <a:t>Cost Considerations:</a:t>
            </a:r>
            <a:r>
              <a:rPr lang="en-US" dirty="0">
                <a:solidFill>
                  <a:schemeClr val="bg1"/>
                </a:solidFill>
              </a:rPr>
              <a:t> For small or independent supermarkets, the initial setup and ongoing maintenance costs of implementing such a system could be a concern.</a:t>
            </a:r>
          </a:p>
          <a:p>
            <a:pPr lvl="0"/>
            <a:r>
              <a:rPr lang="en-US" b="1" dirty="0">
                <a:solidFill>
                  <a:schemeClr val="bg1"/>
                </a:solidFill>
              </a:rPr>
              <a:t>Limited Customization:</a:t>
            </a:r>
            <a:r>
              <a:rPr lang="en-US" dirty="0">
                <a:solidFill>
                  <a:schemeClr val="bg1"/>
                </a:solidFill>
              </a:rPr>
              <a:t> Off-the-shelf solutions may not always cater to specific needs or branding preferences of every supermarket, limiting flexibility.</a:t>
            </a:r>
          </a:p>
          <a:p>
            <a:pPr lvl="0"/>
            <a:r>
              <a:rPr lang="en-US" b="1" dirty="0">
                <a:solidFill>
                  <a:schemeClr val="bg1"/>
                </a:solidFill>
              </a:rPr>
              <a:t>Integration Challenges:</a:t>
            </a:r>
            <a:r>
              <a:rPr lang="en-US" dirty="0">
                <a:solidFill>
                  <a:schemeClr val="bg1"/>
                </a:solidFill>
              </a:rPr>
              <a:t> Compatibility issues may arise when trying to integrate SMS with existing point-of-sale (POS) systems or other software tools used by the supermarket, which could affect operational efficiency.</a:t>
            </a:r>
          </a:p>
        </p:txBody>
      </p:sp>
    </p:spTree>
    <p:extLst>
      <p:ext uri="{BB962C8B-B14F-4D97-AF65-F5344CB8AC3E}">
        <p14:creationId xmlns:p14="http://schemas.microsoft.com/office/powerpoint/2010/main" val="11475168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C4B4F6-A14B-F11A-6923-2A8085C7DB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FA0AC1-0925-7865-FB0F-BB36D900F556}"/>
              </a:ext>
            </a:extLst>
          </p:cNvPr>
          <p:cNvSpPr>
            <a:spLocks noGrp="1"/>
          </p:cNvSpPr>
          <p:nvPr>
            <p:ph type="ctrTitle"/>
          </p:nvPr>
        </p:nvSpPr>
        <p:spPr>
          <a:xfrm>
            <a:off x="2058257" y="205484"/>
            <a:ext cx="4280898" cy="647600"/>
          </a:xfrm>
        </p:spPr>
        <p:txBody>
          <a:bodyPr/>
          <a:lstStyle/>
          <a:p>
            <a:r>
              <a:rPr lang="en-US" sz="4000" dirty="0">
                <a:solidFill>
                  <a:schemeClr val="bg1"/>
                </a:solidFill>
                <a:latin typeface="Times New Roman" panose="02020603050405020304" pitchFamily="18" charset="0"/>
                <a:cs typeface="Times New Roman" panose="02020603050405020304" pitchFamily="18" charset="0"/>
              </a:rPr>
              <a:t>Concluded marks</a:t>
            </a:r>
            <a:endParaRPr lang="en-US" sz="4000" dirty="0">
              <a:solidFill>
                <a:schemeClr val="bg1"/>
              </a:solidFill>
            </a:endParaRPr>
          </a:p>
        </p:txBody>
      </p:sp>
      <p:sp>
        <p:nvSpPr>
          <p:cNvPr id="6" name="Text Placeholder 1">
            <a:extLst>
              <a:ext uri="{FF2B5EF4-FFF2-40B4-BE49-F238E27FC236}">
                <a16:creationId xmlns:a16="http://schemas.microsoft.com/office/drawing/2014/main" id="{1F02D8EB-1418-DCC4-0351-F37FDC2B3798}"/>
              </a:ext>
            </a:extLst>
          </p:cNvPr>
          <p:cNvSpPr>
            <a:spLocks noGrp="1"/>
          </p:cNvSpPr>
          <p:nvPr/>
        </p:nvSpPr>
        <p:spPr>
          <a:xfrm>
            <a:off x="471798" y="1941816"/>
            <a:ext cx="11248404" cy="1643866"/>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Clr>
                <a:schemeClr val="accent2"/>
              </a:buClr>
              <a:buFont typeface="Arial" panose="020B0604020202020204" pitchFamily="34" charset="0"/>
              <a:buNone/>
              <a:defRPr lang="en-US" sz="1600" kern="1200" spc="300">
                <a:solidFill>
                  <a:schemeClr val="accent1">
                    <a:lumMod val="20000"/>
                    <a:lumOff val="80000"/>
                  </a:schemeClr>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bg1"/>
                </a:solidFill>
              </a:rPr>
              <a:t>Technology has advanced significantly, especially in the field of supermarket automation. The </a:t>
            </a:r>
            <a:r>
              <a:rPr lang="en-US" b="1" dirty="0">
                <a:solidFill>
                  <a:schemeClr val="bg1"/>
                </a:solidFill>
              </a:rPr>
              <a:t>Supermarket Management System</a:t>
            </a:r>
            <a:r>
              <a:rPr lang="en-US" dirty="0">
                <a:solidFill>
                  <a:schemeClr val="bg1"/>
                </a:solidFill>
              </a:rPr>
              <a:t> (SMS) brings a revolutionary impact to the way supermarkets operate by streamlining order processing, inventory management, and customer interactions. The system's automation features not only save time but also ensure a more effective and seamless operation, which greatly reduces the need for manual intervention</a:t>
            </a:r>
          </a:p>
        </p:txBody>
      </p:sp>
    </p:spTree>
    <p:extLst>
      <p:ext uri="{BB962C8B-B14F-4D97-AF65-F5344CB8AC3E}">
        <p14:creationId xmlns:p14="http://schemas.microsoft.com/office/powerpoint/2010/main" val="5633354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3A522-5BB6-C570-DB63-D51C968E10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444E1E-E304-E6D2-177E-2E1B4673157A}"/>
              </a:ext>
            </a:extLst>
          </p:cNvPr>
          <p:cNvSpPr>
            <a:spLocks noGrp="1"/>
          </p:cNvSpPr>
          <p:nvPr>
            <p:ph type="ctrTitle"/>
          </p:nvPr>
        </p:nvSpPr>
        <p:spPr>
          <a:xfrm>
            <a:off x="3469079" y="183082"/>
            <a:ext cx="4948569" cy="822261"/>
          </a:xfrm>
        </p:spPr>
        <p:txBody>
          <a:bodyPr/>
          <a:lstStyle/>
          <a:p>
            <a:r>
              <a:rPr lang="so-SO" sz="5400" u="sng" dirty="0">
                <a:solidFill>
                  <a:schemeClr val="bg1"/>
                </a:solidFill>
              </a:rPr>
              <a:t>REFERENCE</a:t>
            </a:r>
            <a:endParaRPr lang="en-US" sz="5400" dirty="0">
              <a:solidFill>
                <a:schemeClr val="bg1"/>
              </a:solidFill>
            </a:endParaRPr>
          </a:p>
        </p:txBody>
      </p:sp>
      <p:sp>
        <p:nvSpPr>
          <p:cNvPr id="4" name="TextBox 3">
            <a:extLst>
              <a:ext uri="{FF2B5EF4-FFF2-40B4-BE49-F238E27FC236}">
                <a16:creationId xmlns:a16="http://schemas.microsoft.com/office/drawing/2014/main" id="{115B662F-DAB5-C4A8-E55F-80F1D173F2DE}"/>
              </a:ext>
            </a:extLst>
          </p:cNvPr>
          <p:cNvSpPr txBox="1"/>
          <p:nvPr/>
        </p:nvSpPr>
        <p:spPr>
          <a:xfrm>
            <a:off x="1612614" y="1005343"/>
            <a:ext cx="9767455" cy="6186309"/>
          </a:xfrm>
          <a:prstGeom prst="rect">
            <a:avLst/>
          </a:prstGeom>
          <a:noFill/>
        </p:spPr>
        <p:txBody>
          <a:bodyPr wrap="square" rtlCol="0">
            <a:spAutoFit/>
          </a:bodyPr>
          <a:lstStyle/>
          <a:p>
            <a:r>
              <a:rPr lang="en-US" dirty="0">
                <a:solidFill>
                  <a:schemeClr val="bg1"/>
                </a:solidFill>
              </a:rPr>
              <a:t>1: </a:t>
            </a:r>
            <a:r>
              <a:rPr lang="so-SO" dirty="0">
                <a:solidFill>
                  <a:schemeClr val="bg1"/>
                </a:solidFill>
              </a:rPr>
              <a:t>R.H. Ballou, (1999): Business Logistics Management: Planning, Organizing and Controlling the Supply Chain, 4th ed., Prentice-Hall International, London.</a:t>
            </a:r>
            <a:endParaRPr lang="en-US" dirty="0">
              <a:solidFill>
                <a:schemeClr val="bg1"/>
              </a:solidFill>
            </a:endParaRPr>
          </a:p>
          <a:p>
            <a:r>
              <a:rPr lang="so-SO" dirty="0">
                <a:solidFill>
                  <a:schemeClr val="bg1"/>
                </a:solidFill>
              </a:rPr>
              <a:t> 2:</a:t>
            </a:r>
            <a:r>
              <a:rPr lang="en-US" dirty="0">
                <a:solidFill>
                  <a:schemeClr val="bg1"/>
                </a:solidFill>
              </a:rPr>
              <a:t> B. Yang, and N.D. Burns, (2003). "Implications of postponement for the supply chain", International Journal of Production Research, Vol. 41 No.9.</a:t>
            </a:r>
          </a:p>
          <a:p>
            <a:r>
              <a:rPr lang="en-US" dirty="0">
                <a:solidFill>
                  <a:schemeClr val="bg1"/>
                </a:solidFill>
              </a:rPr>
              <a:t> 3: </a:t>
            </a:r>
            <a:r>
              <a:rPr lang="so-SO" dirty="0">
                <a:solidFill>
                  <a:schemeClr val="bg1"/>
                </a:solidFill>
              </a:rPr>
              <a:t>M.Q. Patton, (1990). Qualitative Evaluation and Research Methods, 2nd edition, New Bury Park, CA.</a:t>
            </a:r>
            <a:endParaRPr lang="en-US" dirty="0">
              <a:solidFill>
                <a:schemeClr val="bg1"/>
              </a:solidFill>
            </a:endParaRPr>
          </a:p>
          <a:p>
            <a:r>
              <a:rPr lang="so-SO" dirty="0">
                <a:solidFill>
                  <a:schemeClr val="bg1"/>
                </a:solidFill>
              </a:rPr>
              <a:t> 4: J.D. Pagh, and M.C. Cooper, (1998). "Supply chain postponement and speculation                 strategies: how to choose the right strategy", Journal of Business Logistics, Vol. 19</a:t>
            </a:r>
            <a:endParaRPr lang="en-US" dirty="0">
              <a:solidFill>
                <a:schemeClr val="bg1"/>
              </a:solidFill>
            </a:endParaRPr>
          </a:p>
          <a:p>
            <a:r>
              <a:rPr lang="so-SO" dirty="0">
                <a:solidFill>
                  <a:schemeClr val="bg1"/>
                </a:solidFill>
              </a:rPr>
              <a:t>5: W3C, (2015). An analysis of implementing web in the class room. Information System</a:t>
            </a:r>
            <a:endParaRPr lang="en-US" dirty="0">
              <a:solidFill>
                <a:schemeClr val="bg1"/>
              </a:solidFill>
            </a:endParaRPr>
          </a:p>
          <a:p>
            <a:r>
              <a:rPr lang="so-SO" dirty="0">
                <a:solidFill>
                  <a:schemeClr val="bg1"/>
                </a:solidFill>
              </a:rPr>
              <a:t>Educational Journa</a:t>
            </a:r>
            <a:endParaRPr lang="en-US" dirty="0">
              <a:solidFill>
                <a:schemeClr val="bg1"/>
              </a:solidFill>
            </a:endParaRPr>
          </a:p>
          <a:p>
            <a:r>
              <a:rPr lang="so-SO" dirty="0">
                <a:solidFill>
                  <a:schemeClr val="bg1"/>
                </a:solidFill>
              </a:rPr>
              <a:t>6:  Wikipedia (</a:t>
            </a:r>
            <a:r>
              <a:rPr lang="so-SO" u="sng" dirty="0">
                <a:solidFill>
                  <a:schemeClr val="bg1"/>
                </a:solidFill>
                <a:hlinkClick r:id="rId2">
                  <a:extLst>
                    <a:ext uri="{A12FA001-AC4F-418D-AE19-62706E023703}">
                      <ahyp:hlinkClr xmlns:ahyp="http://schemas.microsoft.com/office/drawing/2018/hyperlinkcolor" val="tx"/>
                    </a:ext>
                  </a:extLst>
                </a:hlinkClick>
              </a:rPr>
              <a:t>https://en.m.wikipedia.org</a:t>
            </a:r>
            <a:r>
              <a:rPr lang="so-SO" dirty="0">
                <a:solidFill>
                  <a:schemeClr val="bg1"/>
                </a:solidFill>
              </a:rPr>
              <a:t>)</a:t>
            </a:r>
            <a:endParaRPr lang="en-US" dirty="0">
              <a:solidFill>
                <a:schemeClr val="bg1"/>
              </a:solidFill>
            </a:endParaRPr>
          </a:p>
          <a:p>
            <a:r>
              <a:rPr lang="so-SO" dirty="0">
                <a:solidFill>
                  <a:schemeClr val="bg1"/>
                </a:solidFill>
              </a:rPr>
              <a:t>7: S. Rietze, (2008). “Examination of supply response”, WA 98237, Vol 7</a:t>
            </a:r>
            <a:endParaRPr lang="en-US" dirty="0">
              <a:solidFill>
                <a:schemeClr val="bg1"/>
              </a:solidFill>
            </a:endParaRPr>
          </a:p>
          <a:p>
            <a:r>
              <a:rPr lang="so-SO" dirty="0">
                <a:solidFill>
                  <a:schemeClr val="bg1"/>
                </a:solidFill>
              </a:rPr>
              <a:t>8: C. Bowersox, (2009). “Inventory Speculation: Cause and Effect”, Ohio, United States 89511</a:t>
            </a:r>
            <a:endParaRPr lang="en-US" dirty="0">
              <a:solidFill>
                <a:schemeClr val="bg1"/>
              </a:solidFill>
            </a:endParaRPr>
          </a:p>
          <a:p>
            <a:r>
              <a:rPr lang="so-SO" dirty="0">
                <a:solidFill>
                  <a:schemeClr val="bg1"/>
                </a:solidFill>
              </a:rPr>
              <a:t>9:  “Grocery” (https://www.oxfordlearnersdictionaries.com/us/definition/english/grocery_1?</a:t>
            </a:r>
            <a:endParaRPr lang="en-US" dirty="0">
              <a:solidFill>
                <a:schemeClr val="bg1"/>
              </a:solidFill>
            </a:endParaRPr>
          </a:p>
          <a:p>
            <a:r>
              <a:rPr lang="so-SO" dirty="0">
                <a:solidFill>
                  <a:schemeClr val="bg1"/>
                </a:solidFill>
              </a:rPr>
              <a:t>=grocery+store). Oxford Learner's Dictionary. Retrieved 13 July 2020.</a:t>
            </a:r>
            <a:endParaRPr lang="en-US" dirty="0">
              <a:solidFill>
                <a:schemeClr val="bg1"/>
              </a:solidFill>
            </a:endParaRPr>
          </a:p>
          <a:p>
            <a:r>
              <a:rPr lang="so-SO" dirty="0">
                <a:solidFill>
                  <a:schemeClr val="bg1"/>
                </a:solidFill>
              </a:rPr>
              <a:t>  10. Meyer, Zlati (5 April 2017). "Why 'Grocerants' are the new trend, taking bite out of</a:t>
            </a:r>
            <a:endParaRPr lang="en-US" dirty="0">
              <a:solidFill>
                <a:schemeClr val="bg1"/>
              </a:solidFill>
            </a:endParaRPr>
          </a:p>
          <a:p>
            <a:r>
              <a:rPr lang="so-SO" dirty="0">
                <a:solidFill>
                  <a:schemeClr val="bg1"/>
                </a:solidFill>
              </a:rPr>
              <a:t>restaurants"(https://www.usatoday.com/story/money/business/2017/04/05/grocer</a:t>
            </a:r>
            <a:endParaRPr lang="en-US" dirty="0">
              <a:solidFill>
                <a:schemeClr val="bg1"/>
              </a:solidFill>
            </a:endParaRPr>
          </a:p>
          <a:p>
            <a:r>
              <a:rPr lang="so-SO" dirty="0">
                <a:solidFill>
                  <a:schemeClr val="bg1"/>
                </a:solidFill>
              </a:rPr>
              <a:t>nts-take-bite-out-restaurants/99723098/). USA Today. Retrieved 6 April 2017.</a:t>
            </a:r>
            <a:endParaRPr lang="en-US" dirty="0">
              <a:solidFill>
                <a:schemeClr val="bg1"/>
              </a:solidFill>
            </a:endParaRPr>
          </a:p>
          <a:p>
            <a:r>
              <a:rPr lang="so-SO" dirty="0">
                <a:solidFill>
                  <a:schemeClr val="bg1"/>
                </a:solidFill>
              </a:rPr>
              <a:t>"The phenomenon is growing fast enough both in prevalence and sophistication</a:t>
            </a:r>
            <a:endParaRPr lang="en-US" dirty="0">
              <a:solidFill>
                <a:schemeClr val="bg1"/>
              </a:solidFill>
            </a:endParaRPr>
          </a:p>
          <a:p>
            <a:r>
              <a:rPr lang="so-SO" dirty="0">
                <a:solidFill>
                  <a:schemeClr val="bg1"/>
                </a:solidFill>
              </a:rPr>
              <a:t>that the food industry has coined a name for these combination grocery stores and</a:t>
            </a:r>
            <a:endParaRPr lang="en-US" dirty="0">
              <a:solidFill>
                <a:schemeClr val="bg1"/>
              </a:solidFill>
            </a:endParaRPr>
          </a:p>
          <a:p>
            <a:r>
              <a:rPr lang="so-SO" dirty="0">
                <a:solidFill>
                  <a:schemeClr val="bg1"/>
                </a:solidFill>
              </a:rPr>
              <a:t>eateries – the 'grocerant.'"</a:t>
            </a:r>
            <a:endParaRPr lang="en-US" dirty="0">
              <a:solidFill>
                <a:schemeClr val="bg1"/>
              </a:solidFill>
            </a:endParaRPr>
          </a:p>
          <a:p>
            <a:endParaRPr lang="en-US" dirty="0">
              <a:solidFill>
                <a:schemeClr val="bg1"/>
              </a:solidFill>
            </a:endParaRPr>
          </a:p>
        </p:txBody>
      </p:sp>
    </p:spTree>
    <p:extLst>
      <p:ext uri="{BB962C8B-B14F-4D97-AF65-F5344CB8AC3E}">
        <p14:creationId xmlns:p14="http://schemas.microsoft.com/office/powerpoint/2010/main" val="33092593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a:xfrm>
            <a:off x="3480954" y="2064258"/>
            <a:ext cx="7180117" cy="2729484"/>
          </a:xfrm>
        </p:spPr>
        <p:txBody>
          <a:bodyPr/>
          <a:lstStyle/>
          <a:p>
            <a:r>
              <a:rPr lang="en-US" sz="19900" dirty="0">
                <a:latin typeface="Times New Roman" panose="02020603050405020304" pitchFamily="18" charset="0"/>
                <a:cs typeface="Times New Roman" panose="02020603050405020304" pitchFamily="18" charset="0"/>
              </a:rPr>
              <a:t>END</a:t>
            </a:r>
            <a:endParaRPr lang="en-GB" sz="199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4069682"/>
      </p:ext>
    </p:extLst>
  </p:cSld>
  <p:clrMapOvr>
    <a:masterClrMapping/>
  </p:clrMapOvr>
  <p:transition spd="slow">
    <p:wipe/>
  </p:transition>
</p:sld>
</file>

<file path=ppt/theme/theme1.xml><?xml version="1.0" encoding="utf-8"?>
<a:theme xmlns:a="http://schemas.openxmlformats.org/drawingml/2006/main" name="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6687569_Modern blue presentation_AAS_v5" id="{C7B59113-CD15-4341-96CA-86E715D5BE98}" vid="{5A8FDAEB-3DF3-4B3C-A708-49813F8D6F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5757914-1161-4661-9696-421FD6935CDD}">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4C103400-4A22-4E35-B588-4C4D426389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B26E0C9-B2AA-42E6-97B6-E1B7D9EAF12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Modern blue presentation</Template>
  <TotalTime>1781</TotalTime>
  <Words>2174</Words>
  <Application>Microsoft Office PowerPoint</Application>
  <PresentationFormat>Widescreen</PresentationFormat>
  <Paragraphs>186</Paragraphs>
  <Slides>29</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29</vt:i4>
      </vt:variant>
    </vt:vector>
  </HeadingPairs>
  <TitlesOfParts>
    <vt:vector size="39" baseType="lpstr">
      <vt:lpstr>Arial</vt:lpstr>
      <vt:lpstr>Calibri</vt:lpstr>
      <vt:lpstr>Georgia</vt:lpstr>
      <vt:lpstr>New</vt:lpstr>
      <vt:lpstr>RoMA</vt:lpstr>
      <vt:lpstr>Times New Roman</vt:lpstr>
      <vt:lpstr>Trade Gothic LT Pro</vt:lpstr>
      <vt:lpstr>Trebuchet MS</vt:lpstr>
      <vt:lpstr>Wingdings</vt:lpstr>
      <vt:lpstr>Office Theme</vt:lpstr>
      <vt:lpstr>ONLINE SUPERMARKET MANAGEMENT SYSTEM</vt:lpstr>
      <vt:lpstr>PowerPoint Presentation</vt:lpstr>
      <vt:lpstr>CHAPTER ONE INTRODUCTION</vt:lpstr>
      <vt:lpstr>BACKGROUND OF STUDY </vt:lpstr>
      <vt:lpstr>PROBLEM STATEMENT</vt:lpstr>
      <vt:lpstr>RESEARCH QUESTION</vt:lpstr>
      <vt:lpstr>SCOPE OF PROJECT</vt:lpstr>
      <vt:lpstr>CHAPTER TWO  LITEATURE REVIEW</vt:lpstr>
      <vt:lpstr>CONCEPTS OF BLOOD BANK MANAGEMENT SYSTEM</vt:lpstr>
      <vt:lpstr>EXISTING SYSTEM</vt:lpstr>
      <vt:lpstr>Continue….</vt:lpstr>
      <vt:lpstr>Data Gathering Data flow Diagram Feasibility Study New proposed system Solution Strategy</vt:lpstr>
      <vt:lpstr>DATA GATHERING</vt:lpstr>
      <vt:lpstr>Uniftied Modelling Language  </vt:lpstr>
      <vt:lpstr>PowerPoint Presentation</vt:lpstr>
      <vt:lpstr>FEASIBILITY STUDY</vt:lpstr>
      <vt:lpstr> New Proposed System</vt:lpstr>
      <vt:lpstr>Solution Strategy</vt:lpstr>
      <vt:lpstr>Chapter IV- System Design</vt:lpstr>
      <vt:lpstr>Database design</vt:lpstr>
      <vt:lpstr>ENTITY RELATIONSHIP DIAGRAM (ERD)</vt:lpstr>
      <vt:lpstr>Table design</vt:lpstr>
      <vt:lpstr>Chapter 5</vt:lpstr>
      <vt:lpstr>Home Page of Admin</vt:lpstr>
      <vt:lpstr>Chapter VI- Conclusion &amp; Recommendation</vt:lpstr>
      <vt:lpstr>Contunue………</vt:lpstr>
      <vt:lpstr>Concluded marks</vt:lpstr>
      <vt:lpstr>REFERENCE</vt:lpstr>
      <vt:lpstr>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Here</dc:title>
  <dc:creator>Abdirahman Osman Haji</dc:creator>
  <cp:lastModifiedBy>abdi majid</cp:lastModifiedBy>
  <cp:revision>80</cp:revision>
  <dcterms:created xsi:type="dcterms:W3CDTF">2021-05-04T08:56:00Z</dcterms:created>
  <dcterms:modified xsi:type="dcterms:W3CDTF">2025-09-07T04:30:47Z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